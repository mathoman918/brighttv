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59" r:id="rId2"/>
  </p:sldMasterIdLst>
  <p:notesMasterIdLst>
    <p:notesMasterId r:id="rId12"/>
  </p:notesMasterIdLst>
  <p:sldIdLst>
    <p:sldId id="2561" r:id="rId3"/>
    <p:sldId id="2562" r:id="rId4"/>
    <p:sldId id="2583" r:id="rId5"/>
    <p:sldId id="2585" r:id="rId6"/>
    <p:sldId id="2586" r:id="rId7"/>
    <p:sldId id="2584" r:id="rId8"/>
    <p:sldId id="2576" r:id="rId9"/>
    <p:sldId id="2578" r:id="rId10"/>
    <p:sldId id="258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ghtTV Viewership Analytics Project Overview" id="{6FB2AC42-1E9F-4953-8636-99F5C968E96E}">
          <p14:sldIdLst>
            <p14:sldId id="2561"/>
            <p14:sldId id="2562"/>
          </p14:sldIdLst>
        </p14:section>
        <p14:section name="Analytical approach and methodology" id="{5A84CD10-1923-46E0-918F-BE336F66E224}">
          <p14:sldIdLst>
            <p14:sldId id="2583"/>
            <p14:sldId id="2585"/>
            <p14:sldId id="2586"/>
            <p14:sldId id="2584"/>
          </p14:sldIdLst>
        </p14:section>
        <p14:section name="Key findings from analysis" id="{EF9E01EF-A78B-4758-BB23-6C5441D4862F}">
          <p14:sldIdLst>
            <p14:sldId id="2576"/>
          </p14:sldIdLst>
        </p14:section>
        <p14:section name="Strategic recommendations for BrightTV" id="{AE552D94-1FB6-4383-A71E-8F079539782B}">
          <p14:sldIdLst>
            <p14:sldId id="2578"/>
          </p14:sldIdLst>
        </p14:section>
        <p14:section name="Conclusion: Driving BrightTV's Success through Insightful Analytics" id="{AF5603D2-80CF-49D9-BBFB-FCF97FF5AF34}">
          <p14:sldIdLst>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E18B84-F163-4E2A-B84B-7DA6E9C13438}" v="69" dt="2026-04-19T17:09:23.6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62" d="100"/>
          <a:sy n="62" d="100"/>
        </p:scale>
        <p:origin x="712" y="2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yandano Mathoma" userId="eaa78456-7207-4795-8cf4-38160c5d01da" providerId="ADAL" clId="{872475C6-6803-4368-8F85-F95FF9EB2A17}"/>
    <pc:docChg chg="undo redo custSel addSld delSld modSld sldOrd modMainMaster addSection delSection modSection">
      <pc:chgData name="Nyandano Mathoma" userId="eaa78456-7207-4795-8cf4-38160c5d01da" providerId="ADAL" clId="{872475C6-6803-4368-8F85-F95FF9EB2A17}" dt="2026-04-19T17:48:58.023" v="2284"/>
      <pc:docMkLst>
        <pc:docMk/>
      </pc:docMkLst>
      <pc:sldChg chg="addSp delSp modSp mod setBg">
        <pc:chgData name="Nyandano Mathoma" userId="eaa78456-7207-4795-8cf4-38160c5d01da" providerId="ADAL" clId="{872475C6-6803-4368-8F85-F95FF9EB2A17}" dt="2026-04-19T17:09:13.283" v="2275" actId="207"/>
        <pc:sldMkLst>
          <pc:docMk/>
          <pc:sldMk cId="3771103370" sldId="2561"/>
        </pc:sldMkLst>
        <pc:spChg chg="mod">
          <ac:chgData name="Nyandano Mathoma" userId="eaa78456-7207-4795-8cf4-38160c5d01da" providerId="ADAL" clId="{872475C6-6803-4368-8F85-F95FF9EB2A17}" dt="2026-04-19T17:09:05.704" v="2274" actId="207"/>
          <ac:spMkLst>
            <pc:docMk/>
            <pc:sldMk cId="3771103370" sldId="2561"/>
            <ac:spMk id="6" creationId="{7254D766-4E4D-4C38-A17E-3AE82E5C8F93}"/>
          </ac:spMkLst>
        </pc:spChg>
        <pc:spChg chg="mod">
          <ac:chgData name="Nyandano Mathoma" userId="eaa78456-7207-4795-8cf4-38160c5d01da" providerId="ADAL" clId="{872475C6-6803-4368-8F85-F95FF9EB2A17}" dt="2026-04-19T17:09:13.283" v="2275" actId="207"/>
          <ac:spMkLst>
            <pc:docMk/>
            <pc:sldMk cId="3771103370" sldId="2561"/>
            <ac:spMk id="7" creationId="{4995313D-C563-4681-B0C2-3FEF04A092E1}"/>
          </ac:spMkLst>
        </pc:spChg>
        <pc:picChg chg="del">
          <ac:chgData name="Nyandano Mathoma" userId="eaa78456-7207-4795-8cf4-38160c5d01da" providerId="ADAL" clId="{872475C6-6803-4368-8F85-F95FF9EB2A17}" dt="2026-04-19T15:37:22.262" v="2184" actId="478"/>
          <ac:picMkLst>
            <pc:docMk/>
            <pc:sldMk cId="3771103370" sldId="2561"/>
            <ac:picMk id="5" creationId="{A0567CF4-DFFB-492E-BD6B-7E9081F58EFD}"/>
          </ac:picMkLst>
        </pc:picChg>
      </pc:sldChg>
      <pc:sldChg chg="addSp delSp modSp mod">
        <pc:chgData name="Nyandano Mathoma" userId="eaa78456-7207-4795-8cf4-38160c5d01da" providerId="ADAL" clId="{872475C6-6803-4368-8F85-F95FF9EB2A17}" dt="2026-04-19T16:57:41.129" v="2242" actId="403"/>
        <pc:sldMkLst>
          <pc:docMk/>
          <pc:sldMk cId="3413790961" sldId="2562"/>
        </pc:sldMkLst>
        <pc:spChg chg="add mod">
          <ac:chgData name="Nyandano Mathoma" userId="eaa78456-7207-4795-8cf4-38160c5d01da" providerId="ADAL" clId="{872475C6-6803-4368-8F85-F95FF9EB2A17}" dt="2026-04-19T16:57:41.129" v="2242" actId="403"/>
          <ac:spMkLst>
            <pc:docMk/>
            <pc:sldMk cId="3413790961" sldId="2562"/>
            <ac:spMk id="3" creationId="{80A00EEF-D9B8-2F24-0CE2-94D91C7FA52A}"/>
          </ac:spMkLst>
        </pc:spChg>
        <pc:spChg chg="mod">
          <ac:chgData name="Nyandano Mathoma" userId="eaa78456-7207-4795-8cf4-38160c5d01da" providerId="ADAL" clId="{872475C6-6803-4368-8F85-F95FF9EB2A17}" dt="2026-04-19T16:56:26.282" v="2232" actId="1076"/>
          <ac:spMkLst>
            <pc:docMk/>
            <pc:sldMk cId="3413790961" sldId="2562"/>
            <ac:spMk id="6" creationId="{F410E041-31E6-456A-9594-6911AE8360DC}"/>
          </ac:spMkLst>
        </pc:spChg>
        <pc:spChg chg="mod">
          <ac:chgData name="Nyandano Mathoma" userId="eaa78456-7207-4795-8cf4-38160c5d01da" providerId="ADAL" clId="{872475C6-6803-4368-8F85-F95FF9EB2A17}" dt="2026-04-19T16:56:15.130" v="2229" actId="14100"/>
          <ac:spMkLst>
            <pc:docMk/>
            <pc:sldMk cId="3413790961" sldId="2562"/>
            <ac:spMk id="7" creationId="{41C6D00D-BF21-4E04-B44A-A5D46E1C14D1}"/>
          </ac:spMkLst>
        </pc:spChg>
        <pc:spChg chg="add mod">
          <ac:chgData name="Nyandano Mathoma" userId="eaa78456-7207-4795-8cf4-38160c5d01da" providerId="ADAL" clId="{872475C6-6803-4368-8F85-F95FF9EB2A17}" dt="2026-04-19T16:57:29.241" v="2239" actId="1076"/>
          <ac:spMkLst>
            <pc:docMk/>
            <pc:sldMk cId="3413790961" sldId="2562"/>
            <ac:spMk id="8" creationId="{E0A1159F-B10E-40F7-D42C-70639FEC40D9}"/>
          </ac:spMkLst>
        </pc:spChg>
        <pc:picChg chg="del">
          <ac:chgData name="Nyandano Mathoma" userId="eaa78456-7207-4795-8cf4-38160c5d01da" providerId="ADAL" clId="{872475C6-6803-4368-8F85-F95FF9EB2A17}" dt="2026-04-19T16:56:01.541" v="2226" actId="478"/>
          <ac:picMkLst>
            <pc:docMk/>
            <pc:sldMk cId="3413790961" sldId="2562"/>
            <ac:picMk id="5" creationId="{68498DB5-0368-4A5B-96EB-6AAEA1FAC331}"/>
          </ac:picMkLst>
        </pc:picChg>
      </pc:sldChg>
      <pc:sldChg chg="addSp delSp modSp del mod setBg">
        <pc:chgData name="Nyandano Mathoma" userId="eaa78456-7207-4795-8cf4-38160c5d01da" providerId="ADAL" clId="{872475C6-6803-4368-8F85-F95FF9EB2A17}" dt="2026-04-19T16:57:53.132" v="2243" actId="2696"/>
        <pc:sldMkLst>
          <pc:docMk/>
          <pc:sldMk cId="508264895" sldId="2568"/>
        </pc:sldMkLst>
        <pc:spChg chg="mod">
          <ac:chgData name="Nyandano Mathoma" userId="eaa78456-7207-4795-8cf4-38160c5d01da" providerId="ADAL" clId="{872475C6-6803-4368-8F85-F95FF9EB2A17}" dt="2026-04-19T15:35:12.136" v="2150" actId="20577"/>
          <ac:spMkLst>
            <pc:docMk/>
            <pc:sldMk cId="508264895" sldId="2568"/>
            <ac:spMk id="7" creationId="{AB0F0AF5-1ADE-43DB-B286-FE94D369F706}"/>
          </ac:spMkLst>
        </pc:spChg>
      </pc:sldChg>
      <pc:sldChg chg="addSp delSp modSp mod">
        <pc:chgData name="Nyandano Mathoma" userId="eaa78456-7207-4795-8cf4-38160c5d01da" providerId="ADAL" clId="{872475C6-6803-4368-8F85-F95FF9EB2A17}" dt="2026-04-19T15:34:12.731" v="2123" actId="27636"/>
        <pc:sldMkLst>
          <pc:docMk/>
          <pc:sldMk cId="593379990" sldId="2576"/>
        </pc:sldMkLst>
        <pc:spChg chg="mod">
          <ac:chgData name="Nyandano Mathoma" userId="eaa78456-7207-4795-8cf4-38160c5d01da" providerId="ADAL" clId="{872475C6-6803-4368-8F85-F95FF9EB2A17}" dt="2026-04-19T15:34:12.731" v="2123" actId="27636"/>
          <ac:spMkLst>
            <pc:docMk/>
            <pc:sldMk cId="593379990" sldId="2576"/>
            <ac:spMk id="6" creationId="{0F3DFAF7-3635-4B70-A2A8-54F2A2645F2B}"/>
          </ac:spMkLst>
        </pc:spChg>
        <pc:spChg chg="del mod">
          <ac:chgData name="Nyandano Mathoma" userId="eaa78456-7207-4795-8cf4-38160c5d01da" providerId="ADAL" clId="{872475C6-6803-4368-8F85-F95FF9EB2A17}" dt="2026-04-19T15:25:07.443" v="2036" actId="478"/>
          <ac:spMkLst>
            <pc:docMk/>
            <pc:sldMk cId="593379990" sldId="2576"/>
            <ac:spMk id="7" creationId="{8BDB7A88-87FA-432B-B76B-1872EAB1BE39}"/>
          </ac:spMkLst>
        </pc:spChg>
        <pc:spChg chg="add mod">
          <ac:chgData name="Nyandano Mathoma" userId="eaa78456-7207-4795-8cf4-38160c5d01da" providerId="ADAL" clId="{872475C6-6803-4368-8F85-F95FF9EB2A17}" dt="2026-04-19T15:34:06.375" v="2121" actId="1076"/>
          <ac:spMkLst>
            <pc:docMk/>
            <pc:sldMk cId="593379990" sldId="2576"/>
            <ac:spMk id="13" creationId="{46552F4A-AC00-25C7-8161-009BB2995DF2}"/>
          </ac:spMkLst>
        </pc:spChg>
        <pc:graphicFrameChg chg="add mod">
          <ac:chgData name="Nyandano Mathoma" userId="eaa78456-7207-4795-8cf4-38160c5d01da" providerId="ADAL" clId="{872475C6-6803-4368-8F85-F95FF9EB2A17}" dt="2026-04-19T15:33:48.157" v="2119" actId="1076"/>
          <ac:graphicFrameMkLst>
            <pc:docMk/>
            <pc:sldMk cId="593379990" sldId="2576"/>
            <ac:graphicFrameMk id="2" creationId="{B536DB5B-D0FA-4046-8B15-90E69BD62ED2}"/>
          </ac:graphicFrameMkLst>
        </pc:graphicFrameChg>
        <pc:graphicFrameChg chg="add mod modGraphic">
          <ac:chgData name="Nyandano Mathoma" userId="eaa78456-7207-4795-8cf4-38160c5d01da" providerId="ADAL" clId="{872475C6-6803-4368-8F85-F95FF9EB2A17}" dt="2026-04-19T15:29:20.206" v="2070" actId="1076"/>
          <ac:graphicFrameMkLst>
            <pc:docMk/>
            <pc:sldMk cId="593379990" sldId="2576"/>
            <ac:graphicFrameMk id="3" creationId="{E8EEEA93-18B6-C8B3-6FAD-A7353028A279}"/>
          </ac:graphicFrameMkLst>
        </pc:graphicFrameChg>
        <pc:graphicFrameChg chg="add mod modGraphic">
          <ac:chgData name="Nyandano Mathoma" userId="eaa78456-7207-4795-8cf4-38160c5d01da" providerId="ADAL" clId="{872475C6-6803-4368-8F85-F95FF9EB2A17}" dt="2026-04-17T12:26:22.504" v="1655" actId="14100"/>
          <ac:graphicFrameMkLst>
            <pc:docMk/>
            <pc:sldMk cId="593379990" sldId="2576"/>
            <ac:graphicFrameMk id="4" creationId="{162A5FC2-5949-C302-6200-3B8693E6A43A}"/>
          </ac:graphicFrameMkLst>
        </pc:graphicFrameChg>
        <pc:graphicFrameChg chg="add del mod">
          <ac:chgData name="Nyandano Mathoma" userId="eaa78456-7207-4795-8cf4-38160c5d01da" providerId="ADAL" clId="{872475C6-6803-4368-8F85-F95FF9EB2A17}" dt="2026-04-19T15:33:44.045" v="2118" actId="478"/>
          <ac:graphicFrameMkLst>
            <pc:docMk/>
            <pc:sldMk cId="593379990" sldId="2576"/>
            <ac:graphicFrameMk id="8" creationId="{21ECC66A-9BBF-4003-B9AD-249B523691B7}"/>
          </ac:graphicFrameMkLst>
        </pc:graphicFrameChg>
        <pc:graphicFrameChg chg="add mod modGraphic">
          <ac:chgData name="Nyandano Mathoma" userId="eaa78456-7207-4795-8cf4-38160c5d01da" providerId="ADAL" clId="{872475C6-6803-4368-8F85-F95FF9EB2A17}" dt="2026-04-17T12:27:19.754" v="1665" actId="14100"/>
          <ac:graphicFrameMkLst>
            <pc:docMk/>
            <pc:sldMk cId="593379990" sldId="2576"/>
            <ac:graphicFrameMk id="9" creationId="{3A47FAAD-AF8E-1929-42D1-F6B715D82C3B}"/>
          </ac:graphicFrameMkLst>
        </pc:graphicFrameChg>
        <pc:picChg chg="mod">
          <ac:chgData name="Nyandano Mathoma" userId="eaa78456-7207-4795-8cf4-38160c5d01da" providerId="ADAL" clId="{872475C6-6803-4368-8F85-F95FF9EB2A17}" dt="2026-04-19T15:31:48.234" v="2095" actId="14100"/>
          <ac:picMkLst>
            <pc:docMk/>
            <pc:sldMk cId="593379990" sldId="2576"/>
            <ac:picMk id="5" creationId="{8D4F9637-6813-4D41-B2F0-5171AD158F97}"/>
          </ac:picMkLst>
        </pc:picChg>
        <pc:picChg chg="add del mod">
          <ac:chgData name="Nyandano Mathoma" userId="eaa78456-7207-4795-8cf4-38160c5d01da" providerId="ADAL" clId="{872475C6-6803-4368-8F85-F95FF9EB2A17}" dt="2026-04-19T15:31:59.568" v="2103" actId="478"/>
          <ac:picMkLst>
            <pc:docMk/>
            <pc:sldMk cId="593379990" sldId="2576"/>
            <ac:picMk id="11" creationId="{5EB9AEEE-963C-3481-55DE-C4F5CCAEA29D}"/>
          </ac:picMkLst>
        </pc:picChg>
      </pc:sldChg>
      <pc:sldChg chg="addSp delSp modSp mod setBg">
        <pc:chgData name="Nyandano Mathoma" userId="eaa78456-7207-4795-8cf4-38160c5d01da" providerId="ADAL" clId="{872475C6-6803-4368-8F85-F95FF9EB2A17}" dt="2026-04-19T17:02:43.014" v="2262" actId="1076"/>
        <pc:sldMkLst>
          <pc:docMk/>
          <pc:sldMk cId="583992291" sldId="2578"/>
        </pc:sldMkLst>
        <pc:spChg chg="add mod">
          <ac:chgData name="Nyandano Mathoma" userId="eaa78456-7207-4795-8cf4-38160c5d01da" providerId="ADAL" clId="{872475C6-6803-4368-8F85-F95FF9EB2A17}" dt="2026-04-19T14:50:18.430" v="1797" actId="14100"/>
          <ac:spMkLst>
            <pc:docMk/>
            <pc:sldMk cId="583992291" sldId="2578"/>
            <ac:spMk id="2" creationId="{B9145D6C-4B2B-22E5-98F7-515244B94CF4}"/>
          </ac:spMkLst>
        </pc:spChg>
        <pc:spChg chg="add mod">
          <ac:chgData name="Nyandano Mathoma" userId="eaa78456-7207-4795-8cf4-38160c5d01da" providerId="ADAL" clId="{872475C6-6803-4368-8F85-F95FF9EB2A17}" dt="2026-04-19T14:48:31.332" v="1791" actId="207"/>
          <ac:spMkLst>
            <pc:docMk/>
            <pc:sldMk cId="583992291" sldId="2578"/>
            <ac:spMk id="3" creationId="{6C746E97-2E29-9687-2FE6-2DF15D05ECEB}"/>
          </ac:spMkLst>
        </pc:spChg>
        <pc:spChg chg="add mod">
          <ac:chgData name="Nyandano Mathoma" userId="eaa78456-7207-4795-8cf4-38160c5d01da" providerId="ADAL" clId="{872475C6-6803-4368-8F85-F95FF9EB2A17}" dt="2026-04-19T17:02:43.014" v="2262" actId="1076"/>
          <ac:spMkLst>
            <pc:docMk/>
            <pc:sldMk cId="583992291" sldId="2578"/>
            <ac:spMk id="4" creationId="{0D2A05E5-A69B-51B9-5327-D2008085CE8C}"/>
          </ac:spMkLst>
        </pc:spChg>
        <pc:spChg chg="mod">
          <ac:chgData name="Nyandano Mathoma" userId="eaa78456-7207-4795-8cf4-38160c5d01da" providerId="ADAL" clId="{872475C6-6803-4368-8F85-F95FF9EB2A17}" dt="2026-04-05T11:08:47.540" v="830" actId="14100"/>
          <ac:spMkLst>
            <pc:docMk/>
            <pc:sldMk cId="583992291" sldId="2578"/>
            <ac:spMk id="5" creationId="{6847A621-924C-4FA7-8632-32EBDB597D55}"/>
          </ac:spMkLst>
        </pc:spChg>
        <pc:spChg chg="mod">
          <ac:chgData name="Nyandano Mathoma" userId="eaa78456-7207-4795-8cf4-38160c5d01da" providerId="ADAL" clId="{872475C6-6803-4368-8F85-F95FF9EB2A17}" dt="2026-04-05T11:08:41.781" v="829" actId="14100"/>
          <ac:spMkLst>
            <pc:docMk/>
            <pc:sldMk cId="583992291" sldId="2578"/>
            <ac:spMk id="6" creationId="{6322C5A1-8156-41AF-8AC6-5C9F00F27402}"/>
          </ac:spMkLst>
        </pc:spChg>
        <pc:spChg chg="del mod">
          <ac:chgData name="Nyandano Mathoma" userId="eaa78456-7207-4795-8cf4-38160c5d01da" providerId="ADAL" clId="{872475C6-6803-4368-8F85-F95FF9EB2A17}" dt="2026-04-19T14:42:33.961" v="1761" actId="478"/>
          <ac:spMkLst>
            <pc:docMk/>
            <pc:sldMk cId="583992291" sldId="2578"/>
            <ac:spMk id="7" creationId="{C018A255-4714-4F99-A953-EEF4EBD1E211}"/>
          </ac:spMkLst>
        </pc:spChg>
        <pc:spChg chg="add mod">
          <ac:chgData name="Nyandano Mathoma" userId="eaa78456-7207-4795-8cf4-38160c5d01da" providerId="ADAL" clId="{872475C6-6803-4368-8F85-F95FF9EB2A17}" dt="2026-04-19T14:47:34.034" v="1784" actId="207"/>
          <ac:spMkLst>
            <pc:docMk/>
            <pc:sldMk cId="583992291" sldId="2578"/>
            <ac:spMk id="8" creationId="{5FC262FA-01AB-FE5F-555B-C18456C2DFFA}"/>
          </ac:spMkLst>
        </pc:spChg>
        <pc:spChg chg="add mod">
          <ac:chgData name="Nyandano Mathoma" userId="eaa78456-7207-4795-8cf4-38160c5d01da" providerId="ADAL" clId="{872475C6-6803-4368-8F85-F95FF9EB2A17}" dt="2026-04-19T14:48:00.859" v="1787" actId="207"/>
          <ac:spMkLst>
            <pc:docMk/>
            <pc:sldMk cId="583992291" sldId="2578"/>
            <ac:spMk id="9" creationId="{8D120615-AD07-67A5-BBA1-7E58D5499AA1}"/>
          </ac:spMkLst>
        </pc:spChg>
        <pc:spChg chg="add del">
          <ac:chgData name="Nyandano Mathoma" userId="eaa78456-7207-4795-8cf4-38160c5d01da" providerId="ADAL" clId="{872475C6-6803-4368-8F85-F95FF9EB2A17}" dt="2026-04-19T14:48:38.433" v="1792" actId="478"/>
          <ac:spMkLst>
            <pc:docMk/>
            <pc:sldMk cId="583992291" sldId="2578"/>
            <ac:spMk id="10" creationId="{0B21982E-B123-B8DC-6FBD-D995666B0BA3}"/>
          </ac:spMkLst>
        </pc:spChg>
        <pc:graphicFrameChg chg="add del mod">
          <ac:chgData name="Nyandano Mathoma" userId="eaa78456-7207-4795-8cf4-38160c5d01da" providerId="ADAL" clId="{872475C6-6803-4368-8F85-F95FF9EB2A17}" dt="2026-04-19T15:50:41.977" v="2225" actId="478"/>
          <ac:graphicFrameMkLst>
            <pc:docMk/>
            <pc:sldMk cId="583992291" sldId="2578"/>
            <ac:graphicFrameMk id="11" creationId="{70481EF8-5884-9166-1127-F23D0D95BD92}"/>
          </ac:graphicFrameMkLst>
        </pc:graphicFrameChg>
      </pc:sldChg>
      <pc:sldChg chg="addSp delSp modSp mod setBg">
        <pc:chgData name="Nyandano Mathoma" userId="eaa78456-7207-4795-8cf4-38160c5d01da" providerId="ADAL" clId="{872475C6-6803-4368-8F85-F95FF9EB2A17}" dt="2026-04-19T17:02:19.356" v="2261" actId="1076"/>
        <pc:sldMkLst>
          <pc:docMk/>
          <pc:sldMk cId="553987535" sldId="2581"/>
        </pc:sldMkLst>
        <pc:spChg chg="add mod">
          <ac:chgData name="Nyandano Mathoma" userId="eaa78456-7207-4795-8cf4-38160c5d01da" providerId="ADAL" clId="{872475C6-6803-4368-8F85-F95FF9EB2A17}" dt="2026-04-19T17:02:19.356" v="2261" actId="1076"/>
          <ac:spMkLst>
            <pc:docMk/>
            <pc:sldMk cId="553987535" sldId="2581"/>
            <ac:spMk id="3" creationId="{29121E87-B1FA-0F36-51D1-E8FF1B3EE83A}"/>
          </ac:spMkLst>
        </pc:spChg>
        <pc:spChg chg="mod">
          <ac:chgData name="Nyandano Mathoma" userId="eaa78456-7207-4795-8cf4-38160c5d01da" providerId="ADAL" clId="{872475C6-6803-4368-8F85-F95FF9EB2A17}" dt="2026-04-05T11:09:03.004" v="832" actId="14100"/>
          <ac:spMkLst>
            <pc:docMk/>
            <pc:sldMk cId="553987535" sldId="2581"/>
            <ac:spMk id="9" creationId="{27FCA858-2772-4433-9F43-CD0499B9AA97}"/>
          </ac:spMkLst>
        </pc:spChg>
        <pc:spChg chg="mod">
          <ac:chgData name="Nyandano Mathoma" userId="eaa78456-7207-4795-8cf4-38160c5d01da" providerId="ADAL" clId="{872475C6-6803-4368-8F85-F95FF9EB2A17}" dt="2026-04-19T16:59:29.888" v="2246" actId="1076"/>
          <ac:spMkLst>
            <pc:docMk/>
            <pc:sldMk cId="553987535" sldId="2581"/>
            <ac:spMk id="10" creationId="{4BA7AB56-8688-44EB-881F-856E6C470786}"/>
          </ac:spMkLst>
        </pc:spChg>
        <pc:spChg chg="mod">
          <ac:chgData name="Nyandano Mathoma" userId="eaa78456-7207-4795-8cf4-38160c5d01da" providerId="ADAL" clId="{872475C6-6803-4368-8F85-F95FF9EB2A17}" dt="2026-04-19T16:59:52.806" v="2249" actId="1076"/>
          <ac:spMkLst>
            <pc:docMk/>
            <pc:sldMk cId="553987535" sldId="2581"/>
            <ac:spMk id="12" creationId="{AC8BA60B-D9C0-489F-98C2-1B692AC39F81}"/>
          </ac:spMkLst>
        </pc:spChg>
        <pc:spChg chg="mod">
          <ac:chgData name="Nyandano Mathoma" userId="eaa78456-7207-4795-8cf4-38160c5d01da" providerId="ADAL" clId="{872475C6-6803-4368-8F85-F95FF9EB2A17}" dt="2026-04-19T16:59:58.445" v="2250" actId="1076"/>
          <ac:spMkLst>
            <pc:docMk/>
            <pc:sldMk cId="553987535" sldId="2581"/>
            <ac:spMk id="13" creationId="{0E8136B3-B366-4841-ADF7-170042EB7A2B}"/>
          </ac:spMkLst>
        </pc:spChg>
        <pc:picChg chg="mod">
          <ac:chgData name="Nyandano Mathoma" userId="eaa78456-7207-4795-8cf4-38160c5d01da" providerId="ADAL" clId="{872475C6-6803-4368-8F85-F95FF9EB2A17}" dt="2026-04-19T16:59:18.922" v="2245" actId="1076"/>
          <ac:picMkLst>
            <pc:docMk/>
            <pc:sldMk cId="553987535" sldId="2581"/>
            <ac:picMk id="5" creationId="{8FE0BABD-105F-4258-B5BA-2D12E3C02DF5}"/>
          </ac:picMkLst>
        </pc:picChg>
        <pc:picChg chg="mod">
          <ac:chgData name="Nyandano Mathoma" userId="eaa78456-7207-4795-8cf4-38160c5d01da" providerId="ADAL" clId="{872475C6-6803-4368-8F85-F95FF9EB2A17}" dt="2026-04-19T16:59:36.945" v="2247" actId="1076"/>
          <ac:picMkLst>
            <pc:docMk/>
            <pc:sldMk cId="553987535" sldId="2581"/>
            <ac:picMk id="7" creationId="{CD36DEF0-0B3C-40EB-90C2-4DD0F23A80DD}"/>
          </ac:picMkLst>
        </pc:picChg>
        <pc:picChg chg="mod">
          <ac:chgData name="Nyandano Mathoma" userId="eaa78456-7207-4795-8cf4-38160c5d01da" providerId="ADAL" clId="{872475C6-6803-4368-8F85-F95FF9EB2A17}" dt="2026-04-19T16:59:45.626" v="2248" actId="1076"/>
          <ac:picMkLst>
            <pc:docMk/>
            <pc:sldMk cId="553987535" sldId="2581"/>
            <ac:picMk id="8" creationId="{45B5B46E-570D-4F76-94B9-48FA7F7E725F}"/>
          </ac:picMkLst>
        </pc:picChg>
      </pc:sldChg>
      <pc:sldChg chg="addSp delSp modSp new del mod setBg">
        <pc:chgData name="Nyandano Mathoma" userId="eaa78456-7207-4795-8cf4-38160c5d01da" providerId="ADAL" clId="{872475C6-6803-4368-8F85-F95FF9EB2A17}" dt="2026-04-19T17:00:29.939" v="2254" actId="2696"/>
        <pc:sldMkLst>
          <pc:docMk/>
          <pc:sldMk cId="2761626315" sldId="2582"/>
        </pc:sldMkLst>
        <pc:spChg chg="add mod">
          <ac:chgData name="Nyandano Mathoma" userId="eaa78456-7207-4795-8cf4-38160c5d01da" providerId="ADAL" clId="{872475C6-6803-4368-8F85-F95FF9EB2A17}" dt="2026-04-19T17:00:04.782" v="2251" actId="1076"/>
          <ac:spMkLst>
            <pc:docMk/>
            <pc:sldMk cId="2761626315" sldId="2582"/>
            <ac:spMk id="4" creationId="{6E661486-680E-663A-6214-BB424B4E1AF7}"/>
          </ac:spMkLst>
        </pc:spChg>
      </pc:sldChg>
      <pc:sldChg chg="addSp delSp modSp add mod ord">
        <pc:chgData name="Nyandano Mathoma" userId="eaa78456-7207-4795-8cf4-38160c5d01da" providerId="ADAL" clId="{872475C6-6803-4368-8F85-F95FF9EB2A17}" dt="2026-04-19T15:10:26.377" v="1961" actId="1076"/>
        <pc:sldMkLst>
          <pc:docMk/>
          <pc:sldMk cId="1055805995" sldId="2583"/>
        </pc:sldMkLst>
        <pc:spChg chg="add mod">
          <ac:chgData name="Nyandano Mathoma" userId="eaa78456-7207-4795-8cf4-38160c5d01da" providerId="ADAL" clId="{872475C6-6803-4368-8F85-F95FF9EB2A17}" dt="2026-04-19T15:10:26.377" v="1961" actId="1076"/>
          <ac:spMkLst>
            <pc:docMk/>
            <pc:sldMk cId="1055805995" sldId="2583"/>
            <ac:spMk id="3" creationId="{E5279E74-B7F5-F0E2-4346-45754725B857}"/>
          </ac:spMkLst>
        </pc:spChg>
        <pc:spChg chg="add del mod">
          <ac:chgData name="Nyandano Mathoma" userId="eaa78456-7207-4795-8cf4-38160c5d01da" providerId="ADAL" clId="{872475C6-6803-4368-8F85-F95FF9EB2A17}" dt="2026-04-19T15:10:18.882" v="1960" actId="478"/>
          <ac:spMkLst>
            <pc:docMk/>
            <pc:sldMk cId="1055805995" sldId="2583"/>
            <ac:spMk id="12" creationId="{F058C47B-B029-3B48-3BE2-59450378F1C3}"/>
          </ac:spMkLst>
        </pc:spChg>
        <pc:spChg chg="add mod">
          <ac:chgData name="Nyandano Mathoma" userId="eaa78456-7207-4795-8cf4-38160c5d01da" providerId="ADAL" clId="{872475C6-6803-4368-8F85-F95FF9EB2A17}" dt="2026-04-19T14:59:02.189" v="1852" actId="20577"/>
          <ac:spMkLst>
            <pc:docMk/>
            <pc:sldMk cId="1055805995" sldId="2583"/>
            <ac:spMk id="14" creationId="{27BC4EE1-59E5-7575-0B57-60B6BE685C82}"/>
          </ac:spMkLst>
        </pc:spChg>
        <pc:graphicFrameChg chg="add mod">
          <ac:chgData name="Nyandano Mathoma" userId="eaa78456-7207-4795-8cf4-38160c5d01da" providerId="ADAL" clId="{872475C6-6803-4368-8F85-F95FF9EB2A17}" dt="2026-04-16T18:23:55.333" v="944" actId="14100"/>
          <ac:graphicFrameMkLst>
            <pc:docMk/>
            <pc:sldMk cId="1055805995" sldId="2583"/>
            <ac:graphicFrameMk id="2" creationId="{FC94D6BC-CDC4-4459-94D3-5ECD3F6E3127}"/>
          </ac:graphicFrameMkLst>
        </pc:graphicFrameChg>
        <pc:graphicFrameChg chg="add mod">
          <ac:chgData name="Nyandano Mathoma" userId="eaa78456-7207-4795-8cf4-38160c5d01da" providerId="ADAL" clId="{872475C6-6803-4368-8F85-F95FF9EB2A17}" dt="2026-04-16T18:23:21.051" v="938" actId="14100"/>
          <ac:graphicFrameMkLst>
            <pc:docMk/>
            <pc:sldMk cId="1055805995" sldId="2583"/>
            <ac:graphicFrameMk id="4" creationId="{05585548-6ABB-4B54-BDCC-C91BFD65B75C}"/>
          </ac:graphicFrameMkLst>
        </pc:graphicFrameChg>
        <pc:graphicFrameChg chg="add mod">
          <ac:chgData name="Nyandano Mathoma" userId="eaa78456-7207-4795-8cf4-38160c5d01da" providerId="ADAL" clId="{872475C6-6803-4368-8F85-F95FF9EB2A17}" dt="2026-04-16T18:24:47.580" v="948" actId="14100"/>
          <ac:graphicFrameMkLst>
            <pc:docMk/>
            <pc:sldMk cId="1055805995" sldId="2583"/>
            <ac:graphicFrameMk id="11" creationId="{EDEF338F-F64E-4B7E-AEFF-9909F14E328B}"/>
          </ac:graphicFrameMkLst>
        </pc:graphicFrameChg>
      </pc:sldChg>
      <pc:sldChg chg="addSp delSp modSp add mod ord">
        <pc:chgData name="Nyandano Mathoma" userId="eaa78456-7207-4795-8cf4-38160c5d01da" providerId="ADAL" clId="{872475C6-6803-4368-8F85-F95FF9EB2A17}" dt="2026-04-19T17:48:58.023" v="2284"/>
        <pc:sldMkLst>
          <pc:docMk/>
          <pc:sldMk cId="1155441638" sldId="2584"/>
        </pc:sldMkLst>
        <pc:spChg chg="add mod">
          <ac:chgData name="Nyandano Mathoma" userId="eaa78456-7207-4795-8cf4-38160c5d01da" providerId="ADAL" clId="{872475C6-6803-4368-8F85-F95FF9EB2A17}" dt="2026-04-19T15:19:15.100" v="2027" actId="207"/>
          <ac:spMkLst>
            <pc:docMk/>
            <pc:sldMk cId="1155441638" sldId="2584"/>
            <ac:spMk id="3" creationId="{D39F577C-6EAD-1DDB-FBCC-CC0EEFCDBDFA}"/>
          </ac:spMkLst>
        </pc:spChg>
        <pc:spChg chg="mod">
          <ac:chgData name="Nyandano Mathoma" userId="eaa78456-7207-4795-8cf4-38160c5d01da" providerId="ADAL" clId="{872475C6-6803-4368-8F85-F95FF9EB2A17}" dt="2026-04-19T15:17:02.345" v="2014" actId="403"/>
          <ac:spMkLst>
            <pc:docMk/>
            <pc:sldMk cId="1155441638" sldId="2584"/>
            <ac:spMk id="8" creationId="{4BC31164-3055-1F7E-9847-5A1881E65CA8}"/>
          </ac:spMkLst>
        </pc:spChg>
        <pc:spChg chg="add del mod">
          <ac:chgData name="Nyandano Mathoma" userId="eaa78456-7207-4795-8cf4-38160c5d01da" providerId="ADAL" clId="{872475C6-6803-4368-8F85-F95FF9EB2A17}" dt="2026-04-19T15:17:20.532" v="2015" actId="478"/>
          <ac:spMkLst>
            <pc:docMk/>
            <pc:sldMk cId="1155441638" sldId="2584"/>
            <ac:spMk id="13" creationId="{BA6EEC70-ACAA-D481-6EFA-AE74DD1CDFB1}"/>
          </ac:spMkLst>
        </pc:spChg>
        <pc:graphicFrameChg chg="add mod">
          <ac:chgData name="Nyandano Mathoma" userId="eaa78456-7207-4795-8cf4-38160c5d01da" providerId="ADAL" clId="{872475C6-6803-4368-8F85-F95FF9EB2A17}" dt="2026-04-19T15:18:39.216" v="2024" actId="14100"/>
          <ac:graphicFrameMkLst>
            <pc:docMk/>
            <pc:sldMk cId="1155441638" sldId="2584"/>
            <ac:graphicFrameMk id="2" creationId="{5F861424-EB89-3DFB-A921-CEED04DBC6D0}"/>
          </ac:graphicFrameMkLst>
        </pc:graphicFrameChg>
        <pc:graphicFrameChg chg="add del mod">
          <ac:chgData name="Nyandano Mathoma" userId="eaa78456-7207-4795-8cf4-38160c5d01da" providerId="ADAL" clId="{872475C6-6803-4368-8F85-F95FF9EB2A17}" dt="2026-04-19T15:15:46.011" v="1984" actId="478"/>
          <ac:graphicFrameMkLst>
            <pc:docMk/>
            <pc:sldMk cId="1155441638" sldId="2584"/>
            <ac:graphicFrameMk id="4" creationId="{8EC9B094-9706-4764-9C2C-ABED3073785A}"/>
          </ac:graphicFrameMkLst>
        </pc:graphicFrameChg>
        <pc:graphicFrameChg chg="add del mod">
          <ac:chgData name="Nyandano Mathoma" userId="eaa78456-7207-4795-8cf4-38160c5d01da" providerId="ADAL" clId="{872475C6-6803-4368-8F85-F95FF9EB2A17}" dt="2026-04-19T15:15:31.409" v="1980" actId="478"/>
          <ac:graphicFrameMkLst>
            <pc:docMk/>
            <pc:sldMk cId="1155441638" sldId="2584"/>
            <ac:graphicFrameMk id="9" creationId="{CF8FEF6D-2F16-3B7D-FE9C-D92314E0F75A}"/>
          </ac:graphicFrameMkLst>
        </pc:graphicFrameChg>
        <pc:graphicFrameChg chg="add del mod">
          <ac:chgData name="Nyandano Mathoma" userId="eaa78456-7207-4795-8cf4-38160c5d01da" providerId="ADAL" clId="{872475C6-6803-4368-8F85-F95FF9EB2A17}" dt="2026-04-19T15:18:35.625" v="2023" actId="14100"/>
          <ac:graphicFrameMkLst>
            <pc:docMk/>
            <pc:sldMk cId="1155441638" sldId="2584"/>
            <ac:graphicFrameMk id="12" creationId="{48E180E9-F84D-41F7-96B4-6266D5FCB094}"/>
          </ac:graphicFrameMkLst>
        </pc:graphicFrameChg>
      </pc:sldChg>
      <pc:sldChg chg="addSp delSp modSp add del mod ord">
        <pc:chgData name="Nyandano Mathoma" userId="eaa78456-7207-4795-8cf4-38160c5d01da" providerId="ADAL" clId="{872475C6-6803-4368-8F85-F95FF9EB2A17}" dt="2026-04-19T17:48:44.426" v="2280"/>
        <pc:sldMkLst>
          <pc:docMk/>
          <pc:sldMk cId="4076606874" sldId="2585"/>
        </pc:sldMkLst>
        <pc:spChg chg="add mod">
          <ac:chgData name="Nyandano Mathoma" userId="eaa78456-7207-4795-8cf4-38160c5d01da" providerId="ADAL" clId="{872475C6-6803-4368-8F85-F95FF9EB2A17}" dt="2026-04-19T15:12:43.724" v="1971" actId="207"/>
          <ac:spMkLst>
            <pc:docMk/>
            <pc:sldMk cId="4076606874" sldId="2585"/>
            <ac:spMk id="7" creationId="{61CC164D-0C51-2128-169A-344AA94A01EE}"/>
          </ac:spMkLst>
        </pc:spChg>
        <pc:spChg chg="del mod">
          <ac:chgData name="Nyandano Mathoma" userId="eaa78456-7207-4795-8cf4-38160c5d01da" providerId="ADAL" clId="{872475C6-6803-4368-8F85-F95FF9EB2A17}" dt="2026-04-19T15:10:50.497" v="1963" actId="478"/>
          <ac:spMkLst>
            <pc:docMk/>
            <pc:sldMk cId="4076606874" sldId="2585"/>
            <ac:spMk id="12" creationId="{52FF9432-2A1A-0831-3E5F-ADF1371077B3}"/>
          </ac:spMkLst>
        </pc:spChg>
        <pc:spChg chg="mod">
          <ac:chgData name="Nyandano Mathoma" userId="eaa78456-7207-4795-8cf4-38160c5d01da" providerId="ADAL" clId="{872475C6-6803-4368-8F85-F95FF9EB2A17}" dt="2026-04-19T15:01:38.722" v="1900" actId="20577"/>
          <ac:spMkLst>
            <pc:docMk/>
            <pc:sldMk cId="4076606874" sldId="2585"/>
            <ac:spMk id="14" creationId="{4D875714-9A90-5753-2596-CAE936203A9A}"/>
          </ac:spMkLst>
        </pc:spChg>
        <pc:graphicFrameChg chg="del">
          <ac:chgData name="Nyandano Mathoma" userId="eaa78456-7207-4795-8cf4-38160c5d01da" providerId="ADAL" clId="{872475C6-6803-4368-8F85-F95FF9EB2A17}" dt="2026-04-19T14:57:10.343" v="1799" actId="478"/>
          <ac:graphicFrameMkLst>
            <pc:docMk/>
            <pc:sldMk cId="4076606874" sldId="2585"/>
            <ac:graphicFrameMk id="2" creationId="{8EFDFC2B-527A-C47E-E2F2-3F88834AC7D2}"/>
          </ac:graphicFrameMkLst>
        </pc:graphicFrameChg>
        <pc:graphicFrameChg chg="add mod">
          <ac:chgData name="Nyandano Mathoma" userId="eaa78456-7207-4795-8cf4-38160c5d01da" providerId="ADAL" clId="{872475C6-6803-4368-8F85-F95FF9EB2A17}" dt="2026-04-19T15:05:23.956" v="1912" actId="14100"/>
          <ac:graphicFrameMkLst>
            <pc:docMk/>
            <pc:sldMk cId="4076606874" sldId="2585"/>
            <ac:graphicFrameMk id="3" creationId="{98D19C1E-D2E4-A980-A162-4F3EBDA653C6}"/>
          </ac:graphicFrameMkLst>
        </pc:graphicFrameChg>
        <pc:graphicFrameChg chg="del">
          <ac:chgData name="Nyandano Mathoma" userId="eaa78456-7207-4795-8cf4-38160c5d01da" providerId="ADAL" clId="{872475C6-6803-4368-8F85-F95FF9EB2A17}" dt="2026-04-19T14:57:13.691" v="1801" actId="478"/>
          <ac:graphicFrameMkLst>
            <pc:docMk/>
            <pc:sldMk cId="4076606874" sldId="2585"/>
            <ac:graphicFrameMk id="4" creationId="{B42BB2F6-AF00-4B3B-4ECD-F841606E1A7C}"/>
          </ac:graphicFrameMkLst>
        </pc:graphicFrameChg>
        <pc:graphicFrameChg chg="add mod">
          <ac:chgData name="Nyandano Mathoma" userId="eaa78456-7207-4795-8cf4-38160c5d01da" providerId="ADAL" clId="{872475C6-6803-4368-8F85-F95FF9EB2A17}" dt="2026-04-19T15:05:09.567" v="1911" actId="14100"/>
          <ac:graphicFrameMkLst>
            <pc:docMk/>
            <pc:sldMk cId="4076606874" sldId="2585"/>
            <ac:graphicFrameMk id="5" creationId="{396AB3A6-FD42-3527-3389-9E893D1F538C}"/>
          </ac:graphicFrameMkLst>
        </pc:graphicFrameChg>
        <pc:graphicFrameChg chg="add mod">
          <ac:chgData name="Nyandano Mathoma" userId="eaa78456-7207-4795-8cf4-38160c5d01da" providerId="ADAL" clId="{872475C6-6803-4368-8F85-F95FF9EB2A17}" dt="2026-04-19T15:12:08.379" v="1967" actId="14100"/>
          <ac:graphicFrameMkLst>
            <pc:docMk/>
            <pc:sldMk cId="4076606874" sldId="2585"/>
            <ac:graphicFrameMk id="6" creationId="{55B6489B-E14E-FBEA-2A9F-545C069CBE1A}"/>
          </ac:graphicFrameMkLst>
        </pc:graphicFrameChg>
        <pc:graphicFrameChg chg="del">
          <ac:chgData name="Nyandano Mathoma" userId="eaa78456-7207-4795-8cf4-38160c5d01da" providerId="ADAL" clId="{872475C6-6803-4368-8F85-F95FF9EB2A17}" dt="2026-04-19T14:57:12.552" v="1800" actId="478"/>
          <ac:graphicFrameMkLst>
            <pc:docMk/>
            <pc:sldMk cId="4076606874" sldId="2585"/>
            <ac:graphicFrameMk id="11" creationId="{B1D43EA7-5136-3B13-F356-946913954F01}"/>
          </ac:graphicFrameMkLst>
        </pc:graphicFrameChg>
      </pc:sldChg>
      <pc:sldChg chg="modSp new del mod">
        <pc:chgData name="Nyandano Mathoma" userId="eaa78456-7207-4795-8cf4-38160c5d01da" providerId="ADAL" clId="{872475C6-6803-4368-8F85-F95FF9EB2A17}" dt="2026-04-19T14:31:40.602" v="1729" actId="2696"/>
        <pc:sldMkLst>
          <pc:docMk/>
          <pc:sldMk cId="4192417219" sldId="2585"/>
        </pc:sldMkLst>
        <pc:spChg chg="mod">
          <ac:chgData name="Nyandano Mathoma" userId="eaa78456-7207-4795-8cf4-38160c5d01da" providerId="ADAL" clId="{872475C6-6803-4368-8F85-F95FF9EB2A17}" dt="2026-04-19T09:49:04.405" v="1719" actId="14100"/>
          <ac:spMkLst>
            <pc:docMk/>
            <pc:sldMk cId="4192417219" sldId="2585"/>
            <ac:spMk id="2" creationId="{0B913B16-97C9-8052-222B-92F9575C8A3B}"/>
          </ac:spMkLst>
        </pc:spChg>
        <pc:spChg chg="mod">
          <ac:chgData name="Nyandano Mathoma" userId="eaa78456-7207-4795-8cf4-38160c5d01da" providerId="ADAL" clId="{872475C6-6803-4368-8F85-F95FF9EB2A17}" dt="2026-04-19T10:28:07.210" v="1722" actId="20577"/>
          <ac:spMkLst>
            <pc:docMk/>
            <pc:sldMk cId="4192417219" sldId="2585"/>
            <ac:spMk id="3" creationId="{1FDC27A5-8ED5-7FAF-20E7-F758D6AEE945}"/>
          </ac:spMkLst>
        </pc:spChg>
      </pc:sldChg>
      <pc:sldChg chg="addSp delSp modSp add mod ord">
        <pc:chgData name="Nyandano Mathoma" userId="eaa78456-7207-4795-8cf4-38160c5d01da" providerId="ADAL" clId="{872475C6-6803-4368-8F85-F95FF9EB2A17}" dt="2026-04-19T17:48:53.543" v="2282"/>
        <pc:sldMkLst>
          <pc:docMk/>
          <pc:sldMk cId="3755343681" sldId="2586"/>
        </pc:sldMkLst>
        <pc:spChg chg="add mod">
          <ac:chgData name="Nyandano Mathoma" userId="eaa78456-7207-4795-8cf4-38160c5d01da" providerId="ADAL" clId="{872475C6-6803-4368-8F85-F95FF9EB2A17}" dt="2026-04-19T15:14:38.036" v="1979" actId="207"/>
          <ac:spMkLst>
            <pc:docMk/>
            <pc:sldMk cId="3755343681" sldId="2586"/>
            <ac:spMk id="4" creationId="{E6DA554A-1152-0504-D766-994FB85EE734}"/>
          </ac:spMkLst>
        </pc:spChg>
        <pc:spChg chg="mod">
          <ac:chgData name="Nyandano Mathoma" userId="eaa78456-7207-4795-8cf4-38160c5d01da" providerId="ADAL" clId="{872475C6-6803-4368-8F85-F95FF9EB2A17}" dt="2026-04-19T15:07:20.805" v="1938" actId="6549"/>
          <ac:spMkLst>
            <pc:docMk/>
            <pc:sldMk cId="3755343681" sldId="2586"/>
            <ac:spMk id="12" creationId="{3C930797-5795-3050-2C98-011B6820EF9B}"/>
          </ac:spMkLst>
        </pc:spChg>
        <pc:spChg chg="mod">
          <ac:chgData name="Nyandano Mathoma" userId="eaa78456-7207-4795-8cf4-38160c5d01da" providerId="ADAL" clId="{872475C6-6803-4368-8F85-F95FF9EB2A17}" dt="2026-04-19T15:06:44.038" v="1937" actId="20577"/>
          <ac:spMkLst>
            <pc:docMk/>
            <pc:sldMk cId="3755343681" sldId="2586"/>
            <ac:spMk id="14" creationId="{8374B896-AE07-F9E4-4FCB-4EB26E71C418}"/>
          </ac:spMkLst>
        </pc:spChg>
        <pc:graphicFrameChg chg="add mod">
          <ac:chgData name="Nyandano Mathoma" userId="eaa78456-7207-4795-8cf4-38160c5d01da" providerId="ADAL" clId="{872475C6-6803-4368-8F85-F95FF9EB2A17}" dt="2026-04-19T15:13:02.838" v="1972" actId="14100"/>
          <ac:graphicFrameMkLst>
            <pc:docMk/>
            <pc:sldMk cId="3755343681" sldId="2586"/>
            <ac:graphicFrameMk id="2" creationId="{A78B511E-6055-13A4-11CE-9E75CE565ED2}"/>
          </ac:graphicFrameMkLst>
        </pc:graphicFrameChg>
        <pc:graphicFrameChg chg="del">
          <ac:chgData name="Nyandano Mathoma" userId="eaa78456-7207-4795-8cf4-38160c5d01da" providerId="ADAL" clId="{872475C6-6803-4368-8F85-F95FF9EB2A17}" dt="2026-04-19T15:06:02.638" v="1915" actId="478"/>
          <ac:graphicFrameMkLst>
            <pc:docMk/>
            <pc:sldMk cId="3755343681" sldId="2586"/>
            <ac:graphicFrameMk id="3" creationId="{7F706532-6AD6-A96A-912B-7F19AD69637E}"/>
          </ac:graphicFrameMkLst>
        </pc:graphicFrameChg>
        <pc:graphicFrameChg chg="del">
          <ac:chgData name="Nyandano Mathoma" userId="eaa78456-7207-4795-8cf4-38160c5d01da" providerId="ADAL" clId="{872475C6-6803-4368-8F85-F95FF9EB2A17}" dt="2026-04-19T15:06:01.131" v="1914" actId="478"/>
          <ac:graphicFrameMkLst>
            <pc:docMk/>
            <pc:sldMk cId="3755343681" sldId="2586"/>
            <ac:graphicFrameMk id="5" creationId="{66F66FA5-6959-8CDF-0616-935ACD7B21D4}"/>
          </ac:graphicFrameMkLst>
        </pc:graphicFrameChg>
        <pc:graphicFrameChg chg="del">
          <ac:chgData name="Nyandano Mathoma" userId="eaa78456-7207-4795-8cf4-38160c5d01da" providerId="ADAL" clId="{872475C6-6803-4368-8F85-F95FF9EB2A17}" dt="2026-04-19T15:06:04.006" v="1916" actId="478"/>
          <ac:graphicFrameMkLst>
            <pc:docMk/>
            <pc:sldMk cId="3755343681" sldId="2586"/>
            <ac:graphicFrameMk id="6" creationId="{11B68610-D1E4-DB7D-7541-2E8D3C5683E5}"/>
          </ac:graphicFrameMkLst>
        </pc:graphicFrameChg>
      </pc:sldChg>
      <pc:sldMasterChg chg="setBg modSldLayout">
        <pc:chgData name="Nyandano Mathoma" userId="eaa78456-7207-4795-8cf4-38160c5d01da" providerId="ADAL" clId="{872475C6-6803-4368-8F85-F95FF9EB2A17}" dt="2026-04-19T17:02:11.892" v="2260"/>
        <pc:sldMasterMkLst>
          <pc:docMk/>
          <pc:sldMasterMk cId="849521002" sldId="2147483660"/>
        </pc:sldMasterMkLst>
        <pc:sldLayoutChg chg="setBg">
          <pc:chgData name="Nyandano Mathoma" userId="eaa78456-7207-4795-8cf4-38160c5d01da" providerId="ADAL" clId="{872475C6-6803-4368-8F85-F95FF9EB2A17}" dt="2026-04-19T17:02:11.892" v="2260"/>
          <pc:sldLayoutMkLst>
            <pc:docMk/>
            <pc:sldMasterMk cId="849521002" sldId="2147483660"/>
            <pc:sldLayoutMk cId="3193188070" sldId="2147483661"/>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012130233" sldId="2147483662"/>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177900171" sldId="2147483663"/>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42114681" sldId="2147483664"/>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906444065" sldId="2147483665"/>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782862198" sldId="2147483666"/>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52021920" sldId="2147483667"/>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4043801936" sldId="2147483668"/>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685013947" sldId="2147483669"/>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961102376" sldId="2147483670"/>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564505000" sldId="2147483671"/>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192441938" sldId="2147483672"/>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635986072" sldId="2147483673"/>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714149600" sldId="2147483674"/>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212085465" sldId="2147483675"/>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737063110" sldId="2147483676"/>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88372339" sldId="2147483677"/>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738150820" sldId="2147483678"/>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555514404" sldId="2147483679"/>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46215809" sldId="2147483680"/>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915308233" sldId="2147483681"/>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594132106" sldId="2147483682"/>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86890922" sldId="2147483683"/>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5023551" sldId="2147483684"/>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68486720" sldId="2147483685"/>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288912229" sldId="2147483686"/>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4138903806" sldId="2147483687"/>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67808804" sldId="2147483688"/>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565227155" sldId="2147483689"/>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216182042" sldId="2147483690"/>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017309141" sldId="2147483691"/>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123155810" sldId="2147483692"/>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818004152" sldId="2147483693"/>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042111417" sldId="2147483694"/>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836243231" sldId="2147483695"/>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582927298" sldId="2147483696"/>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033604838" sldId="2147483697"/>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12920247" sldId="2147483698"/>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51098350" sldId="2147483699"/>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197810583" sldId="2147483700"/>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042001204" sldId="2147483701"/>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910229966" sldId="2147483702"/>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791855040" sldId="2147483703"/>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4067903946" sldId="2147483704"/>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677950049" sldId="2147483705"/>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014033309" sldId="2147483706"/>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006182597" sldId="2147483707"/>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856500196" sldId="2147483708"/>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2483657362" sldId="2147483709"/>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1844642703" sldId="2147483710"/>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481025376" sldId="2147483711"/>
          </pc:sldLayoutMkLst>
        </pc:sldLayoutChg>
        <pc:sldLayoutChg chg="setBg">
          <pc:chgData name="Nyandano Mathoma" userId="eaa78456-7207-4795-8cf4-38160c5d01da" providerId="ADAL" clId="{872475C6-6803-4368-8F85-F95FF9EB2A17}" dt="2026-04-19T17:02:11.892" v="2260"/>
          <pc:sldLayoutMkLst>
            <pc:docMk/>
            <pc:sldMasterMk cId="849521002" sldId="2147483660"/>
            <pc:sldLayoutMk cId="3452501322" sldId="2147483712"/>
          </pc:sldLayoutMkLst>
        </pc:sldLayoutChg>
      </pc:sldMasterChg>
      <pc:sldMasterChg chg="setBg modSldLayout">
        <pc:chgData name="Nyandano Mathoma" userId="eaa78456-7207-4795-8cf4-38160c5d01da" providerId="ADAL" clId="{872475C6-6803-4368-8F85-F95FF9EB2A17}" dt="2026-04-19T17:02:11.892" v="2260"/>
        <pc:sldMasterMkLst>
          <pc:docMk/>
          <pc:sldMasterMk cId="3640541294" sldId="2147483759"/>
        </pc:sldMasterMkLst>
        <pc:sldLayoutChg chg="setBg">
          <pc:chgData name="Nyandano Mathoma" userId="eaa78456-7207-4795-8cf4-38160c5d01da" providerId="ADAL" clId="{872475C6-6803-4368-8F85-F95FF9EB2A17}" dt="2026-04-19T17:02:11.892" v="2260"/>
          <pc:sldLayoutMkLst>
            <pc:docMk/>
            <pc:sldMasterMk cId="3640541294" sldId="2147483759"/>
            <pc:sldLayoutMk cId="852742918" sldId="2147483760"/>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3165654809" sldId="2147483761"/>
          </pc:sldLayoutMkLst>
        </pc:sldLayoutChg>
        <pc:sldLayoutChg chg="addSp setBg">
          <pc:chgData name="Nyandano Mathoma" userId="eaa78456-7207-4795-8cf4-38160c5d01da" providerId="ADAL" clId="{872475C6-6803-4368-8F85-F95FF9EB2A17}" dt="2026-04-19T17:02:11.892" v="2260"/>
          <pc:sldLayoutMkLst>
            <pc:docMk/>
            <pc:sldMasterMk cId="3640541294" sldId="2147483759"/>
            <pc:sldLayoutMk cId="3842597788" sldId="2147483762"/>
          </pc:sldLayoutMkLst>
          <pc:spChg chg="add">
            <ac:chgData name="Nyandano Mathoma" userId="eaa78456-7207-4795-8cf4-38160c5d01da" providerId="ADAL" clId="{872475C6-6803-4368-8F85-F95FF9EB2A17}" dt="2026-04-05T07:23:38.890" v="63"/>
            <ac:spMkLst>
              <pc:docMk/>
              <pc:sldMasterMk cId="3640541294" sldId="2147483759"/>
              <pc:sldLayoutMk cId="3842597788" sldId="2147483762"/>
              <ac:spMk id="7" creationId="{8505DBBD-121C-29D7-C596-B58FEBE3108E}"/>
            </ac:spMkLst>
          </pc:spChg>
        </pc:sldLayoutChg>
        <pc:sldLayoutChg chg="setBg">
          <pc:chgData name="Nyandano Mathoma" userId="eaa78456-7207-4795-8cf4-38160c5d01da" providerId="ADAL" clId="{872475C6-6803-4368-8F85-F95FF9EB2A17}" dt="2026-04-19T17:02:11.892" v="2260"/>
          <pc:sldLayoutMkLst>
            <pc:docMk/>
            <pc:sldMasterMk cId="3640541294" sldId="2147483759"/>
            <pc:sldLayoutMk cId="2567764159" sldId="2147483763"/>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1643264376" sldId="2147483764"/>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2933609461" sldId="2147483765"/>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2956248181" sldId="2147483766"/>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3086673667" sldId="2147483767"/>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2765837295" sldId="2147483768"/>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2266234187" sldId="2147483769"/>
          </pc:sldLayoutMkLst>
        </pc:sldLayoutChg>
        <pc:sldLayoutChg chg="setBg">
          <pc:chgData name="Nyandano Mathoma" userId="eaa78456-7207-4795-8cf4-38160c5d01da" providerId="ADAL" clId="{872475C6-6803-4368-8F85-F95FF9EB2A17}" dt="2026-04-19T17:02:11.892" v="2260"/>
          <pc:sldLayoutMkLst>
            <pc:docMk/>
            <pc:sldMasterMk cId="3640541294" sldId="2147483759"/>
            <pc:sldLayoutMk cId="1012353266" sldId="2147483770"/>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20cleaned%20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20cleaned%20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20cleaned%20dataset-PivotTabl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20cleaned%20dataset-PivotTabl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_cleaned%20with%20PivotTables%20and%20Dashboard.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20cleaned%20datas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20cleaned%20datase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20cleaned%20datase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_cleaned%20with%20PivotTables%20and%20Dashboard.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randwater-my.sharepoint.com/personal/nmathoma_randwater_co_za/Documents/Documents/Bright_Learn/Bright%20TV/brighttv_analysis_cleaned%20with%20PivotTables%20and%20Dashboard.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7"/>
    </mc:Choice>
    <mc:Fallback>
      <c:style val="7"/>
    </mc:Fallback>
  </mc:AlternateContent>
  <c:pivotSource>
    <c:name>[brighttv_analysis cleaned dataset.xlsx]PivotTables!PivotTable11</c:name>
    <c:fmtId val="8"/>
  </c:pivotSource>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ZA"/>
              <a:t>Monthly Viewing Trend</a:t>
            </a:r>
            <a:endParaRPr lang="en-US"/>
          </a:p>
        </c:rich>
      </c:tx>
      <c:layout>
        <c:manualLayout>
          <c:xMode val="edge"/>
          <c:yMode val="edge"/>
          <c:x val="0.38588574889677252"/>
          <c:y val="5.8110660695714925E-2"/>
        </c:manualLayout>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ivotFmts>
      <c:pivotFmt>
        <c:idx val="0"/>
        <c:spPr>
          <a:pattFill prst="ltUpDiag">
            <a:fgClr>
              <a:schemeClr val="accent5"/>
            </a:fgClr>
            <a:bgClr>
              <a:schemeClr val="lt1"/>
            </a:bgClr>
          </a:patt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ltUpDiag">
            <a:fgClr>
              <a:schemeClr val="accent5"/>
            </a:fgClr>
            <a:bgClr>
              <a:schemeClr val="lt1"/>
            </a:bgClr>
          </a:patt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5"/>
            </a:fgClr>
            <a:bgClr>
              <a:schemeClr val="lt1"/>
            </a:bgClr>
          </a:patt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pattFill prst="ltUpDiag">
            <a:fgClr>
              <a:schemeClr val="accent5"/>
            </a:fgClr>
            <a:bgClr>
              <a:schemeClr val="lt1"/>
            </a:bgClr>
          </a:patt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pattFill prst="ltUpDiag">
            <a:fgClr>
              <a:schemeClr val="accent5"/>
            </a:fgClr>
            <a:bgClr>
              <a:schemeClr val="lt1"/>
            </a:bgClr>
          </a:patt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8108367223327843E-2"/>
          <c:y val="0.1825850542267122"/>
          <c:w val="0.82548689106169426"/>
          <c:h val="0.46217076639005028"/>
        </c:manualLayout>
      </c:layout>
      <c:lineChart>
        <c:grouping val="stacked"/>
        <c:varyColors val="0"/>
        <c:ser>
          <c:idx val="0"/>
          <c:order val="0"/>
          <c:tx>
            <c:strRef>
              <c:f>PivotTables!$B$110</c:f>
              <c:strCache>
                <c:ptCount val="1"/>
                <c:pt idx="0">
                  <c:v>Total</c:v>
                </c:pt>
              </c:strCache>
            </c:strRef>
          </c:tx>
          <c:spPr>
            <a:ln w="34925" cap="rnd">
              <a:solidFill>
                <a:schemeClr val="lt1"/>
              </a:solidFill>
              <a:round/>
            </a:ln>
            <a:effectLst>
              <a:outerShdw dist="25400" dir="2700000" algn="tl" rotWithShape="0">
                <a:schemeClr val="accent5"/>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5">
                          <a:lumMod val="60000"/>
                          <a:lumOff val="40000"/>
                        </a:schemeClr>
                      </a:solidFill>
                    </a:ln>
                    <a:effectLst/>
                  </c:spPr>
                </c15:leaderLines>
              </c:ext>
            </c:extLst>
          </c:dLbls>
          <c:cat>
            <c:strRef>
              <c:f>PivotTables!$A$111:$A$115</c:f>
              <c:strCache>
                <c:ptCount val="4"/>
                <c:pt idx="0">
                  <c:v>January</c:v>
                </c:pt>
                <c:pt idx="1">
                  <c:v>February</c:v>
                </c:pt>
                <c:pt idx="2">
                  <c:v>March</c:v>
                </c:pt>
                <c:pt idx="3">
                  <c:v>April</c:v>
                </c:pt>
              </c:strCache>
            </c:strRef>
          </c:cat>
          <c:val>
            <c:numRef>
              <c:f>PivotTables!$B$111:$B$115</c:f>
              <c:numCache>
                <c:formatCode>General</c:formatCode>
                <c:ptCount val="4"/>
                <c:pt idx="0">
                  <c:v>2199</c:v>
                </c:pt>
                <c:pt idx="1">
                  <c:v>2980</c:v>
                </c:pt>
                <c:pt idx="2">
                  <c:v>4816</c:v>
                </c:pt>
                <c:pt idx="3">
                  <c:v>5</c:v>
                </c:pt>
              </c:numCache>
            </c:numRef>
          </c:val>
          <c:smooth val="0"/>
          <c:extLst>
            <c:ext xmlns:c16="http://schemas.microsoft.com/office/drawing/2014/chart" uri="{C3380CC4-5D6E-409C-BE32-E72D297353CC}">
              <c16:uniqueId val="{00000000-4859-4A2B-A4F3-2B2892273DD8}"/>
            </c:ext>
          </c:extLst>
        </c:ser>
        <c:dLbls>
          <c:dLblPos val="ctr"/>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627373263"/>
        <c:axId val="1627366063"/>
      </c:lineChart>
      <c:catAx>
        <c:axId val="1627373263"/>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627366063"/>
        <c:crosses val="autoZero"/>
        <c:auto val="1"/>
        <c:lblAlgn val="ctr"/>
        <c:lblOffset val="100"/>
        <c:noMultiLvlLbl val="0"/>
      </c:catAx>
      <c:valAx>
        <c:axId val="162736606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6273732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accent5"/>
    </a:solidFill>
    <a:ln w="9525" cap="flat" cmpd="sng" algn="ctr">
      <a:solidFill>
        <a:schemeClr val="accent5"/>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8"/>
    </mc:Choice>
    <mc:Fallback>
      <c:style val="8"/>
    </mc:Fallback>
  </mc:AlternateContent>
  <c:pivotSource>
    <c:name>[brighttv_analysis cleaned dataset.xlsx]PivotTables!PivotTable1</c:name>
    <c:fmtId val="8"/>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Views by Day</a:t>
            </a:r>
          </a:p>
        </c:rich>
      </c:tx>
      <c:layout>
        <c:manualLayout>
          <c:xMode val="edge"/>
          <c:yMode val="edge"/>
          <c:x val="0.42570872988702502"/>
          <c:y val="4.064596092155147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6">
              <a:alpha val="85000"/>
            </a:schemeClr>
          </a:solidFill>
          <a:ln w="9525" cap="flat" cmpd="sng" algn="ctr">
            <a:solidFill>
              <a:schemeClr val="accent6">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alpha val="85000"/>
            </a:schemeClr>
          </a:solidFill>
          <a:ln w="9525" cap="flat" cmpd="sng" algn="ctr">
            <a:solidFill>
              <a:schemeClr val="accent6">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alpha val="85000"/>
            </a:schemeClr>
          </a:solidFill>
          <a:ln w="9525" cap="flat" cmpd="sng" algn="ctr">
            <a:solidFill>
              <a:schemeClr val="accent6">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alpha val="85000"/>
            </a:schemeClr>
          </a:solidFill>
          <a:ln w="9525" cap="flat" cmpd="sng" algn="ctr">
            <a:solidFill>
              <a:schemeClr val="accent6">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alpha val="85000"/>
            </a:schemeClr>
          </a:solidFill>
          <a:ln w="9525" cap="flat" cmpd="sng" algn="ctr">
            <a:solidFill>
              <a:schemeClr val="accent6">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PivotTables!$B$3</c:f>
              <c:strCache>
                <c:ptCount val="1"/>
                <c:pt idx="0">
                  <c:v>Total</c:v>
                </c:pt>
              </c:strCache>
            </c:strRef>
          </c:tx>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invertIfNegative val="0"/>
          <c:cat>
            <c:strRef>
              <c:f>PivotTables!$A$4:$A$11</c:f>
              <c:strCache>
                <c:ptCount val="7"/>
                <c:pt idx="0">
                  <c:v>Sunday</c:v>
                </c:pt>
                <c:pt idx="1">
                  <c:v>Monday</c:v>
                </c:pt>
                <c:pt idx="2">
                  <c:v>Tuesday</c:v>
                </c:pt>
                <c:pt idx="3">
                  <c:v>Wednesday</c:v>
                </c:pt>
                <c:pt idx="4">
                  <c:v>Thursday</c:v>
                </c:pt>
                <c:pt idx="5">
                  <c:v>Friday</c:v>
                </c:pt>
                <c:pt idx="6">
                  <c:v>Saturday</c:v>
                </c:pt>
              </c:strCache>
            </c:strRef>
          </c:cat>
          <c:val>
            <c:numRef>
              <c:f>PivotTables!$B$4:$B$11</c:f>
              <c:numCache>
                <c:formatCode>General</c:formatCode>
                <c:ptCount val="7"/>
                <c:pt idx="0">
                  <c:v>1419</c:v>
                </c:pt>
                <c:pt idx="1">
                  <c:v>957</c:v>
                </c:pt>
                <c:pt idx="2">
                  <c:v>1322</c:v>
                </c:pt>
                <c:pt idx="3">
                  <c:v>1553</c:v>
                </c:pt>
                <c:pt idx="4">
                  <c:v>1441</c:v>
                </c:pt>
                <c:pt idx="5">
                  <c:v>1675</c:v>
                </c:pt>
                <c:pt idx="6">
                  <c:v>1633</c:v>
                </c:pt>
              </c:numCache>
            </c:numRef>
          </c:val>
          <c:extLst>
            <c:ext xmlns:c16="http://schemas.microsoft.com/office/drawing/2014/chart" uri="{C3380CC4-5D6E-409C-BE32-E72D297353CC}">
              <c16:uniqueId val="{00000000-4BFF-4D67-8567-482346529B3A}"/>
            </c:ext>
          </c:extLst>
        </c:ser>
        <c:dLbls>
          <c:showLegendKey val="0"/>
          <c:showVal val="0"/>
          <c:showCatName val="0"/>
          <c:showSerName val="0"/>
          <c:showPercent val="0"/>
          <c:showBubbleSize val="0"/>
        </c:dLbls>
        <c:gapWidth val="65"/>
        <c:shape val="box"/>
        <c:axId val="1216466047"/>
        <c:axId val="1216462687"/>
        <c:axId val="0"/>
      </c:bar3DChart>
      <c:catAx>
        <c:axId val="1216466047"/>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216462687"/>
        <c:crosses val="autoZero"/>
        <c:auto val="1"/>
        <c:lblAlgn val="ctr"/>
        <c:lblOffset val="100"/>
        <c:noMultiLvlLbl val="0"/>
      </c:catAx>
      <c:valAx>
        <c:axId val="1216462687"/>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1216466047"/>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[brighttv_analysis cleaned dataset-PivotTable.xlsx]PivotTables!PivotTable2</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Views by Hour</a:t>
            </a:r>
          </a:p>
        </c:rich>
      </c:tx>
      <c:layout>
        <c:manualLayout>
          <c:xMode val="edge"/>
          <c:yMode val="edge"/>
          <c:x val="0.42436755638552603"/>
          <c:y val="3.12454311911276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PivotTables!$B$17</c:f>
              <c:strCache>
                <c:ptCount val="1"/>
                <c:pt idx="0">
                  <c:v>Total</c:v>
                </c:pt>
              </c:strCache>
            </c:strRef>
          </c:tx>
          <c:spPr>
            <a:ln w="28575" cap="rnd">
              <a:solidFill>
                <a:schemeClr val="accent1"/>
              </a:solidFill>
              <a:round/>
            </a:ln>
            <a:effectLst/>
          </c:spPr>
          <c:marker>
            <c:symbol val="none"/>
          </c:marker>
          <c:cat>
            <c:strRef>
              <c:f>PivotTables!$A$18:$A$42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PivotTables!$B$18:$B$42</c:f>
              <c:numCache>
                <c:formatCode>General</c:formatCode>
                <c:ptCount val="24"/>
                <c:pt idx="0">
                  <c:v>180</c:v>
                </c:pt>
                <c:pt idx="1">
                  <c:v>103</c:v>
                </c:pt>
                <c:pt idx="2">
                  <c:v>80</c:v>
                </c:pt>
                <c:pt idx="3">
                  <c:v>55</c:v>
                </c:pt>
                <c:pt idx="4">
                  <c:v>49</c:v>
                </c:pt>
                <c:pt idx="5">
                  <c:v>94</c:v>
                </c:pt>
                <c:pt idx="6">
                  <c:v>180</c:v>
                </c:pt>
                <c:pt idx="7">
                  <c:v>298</c:v>
                </c:pt>
                <c:pt idx="8">
                  <c:v>401</c:v>
                </c:pt>
                <c:pt idx="9">
                  <c:v>402</c:v>
                </c:pt>
                <c:pt idx="10">
                  <c:v>541</c:v>
                </c:pt>
                <c:pt idx="11">
                  <c:v>539</c:v>
                </c:pt>
                <c:pt idx="12">
                  <c:v>634</c:v>
                </c:pt>
                <c:pt idx="13">
                  <c:v>568</c:v>
                </c:pt>
                <c:pt idx="14">
                  <c:v>620</c:v>
                </c:pt>
                <c:pt idx="15">
                  <c:v>637</c:v>
                </c:pt>
                <c:pt idx="16">
                  <c:v>627</c:v>
                </c:pt>
                <c:pt idx="17">
                  <c:v>648</c:v>
                </c:pt>
                <c:pt idx="18">
                  <c:v>628</c:v>
                </c:pt>
                <c:pt idx="19">
                  <c:v>647</c:v>
                </c:pt>
                <c:pt idx="20">
                  <c:v>622</c:v>
                </c:pt>
                <c:pt idx="21">
                  <c:v>585</c:v>
                </c:pt>
                <c:pt idx="22">
                  <c:v>498</c:v>
                </c:pt>
                <c:pt idx="23">
                  <c:v>364</c:v>
                </c:pt>
              </c:numCache>
            </c:numRef>
          </c:val>
          <c:smooth val="0"/>
          <c:extLst>
            <c:ext xmlns:c16="http://schemas.microsoft.com/office/drawing/2014/chart" uri="{C3380CC4-5D6E-409C-BE32-E72D297353CC}">
              <c16:uniqueId val="{00000000-73BA-46B5-B9AC-FFE6EB3530EF}"/>
            </c:ext>
          </c:extLst>
        </c:ser>
        <c:dLbls>
          <c:showLegendKey val="0"/>
          <c:showVal val="0"/>
          <c:showCatName val="0"/>
          <c:showSerName val="0"/>
          <c:showPercent val="0"/>
          <c:showBubbleSize val="0"/>
        </c:dLbls>
        <c:smooth val="0"/>
        <c:axId val="1215101823"/>
        <c:axId val="1215085023"/>
      </c:lineChart>
      <c:catAx>
        <c:axId val="1215101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5085023"/>
        <c:crosses val="autoZero"/>
        <c:auto val="1"/>
        <c:lblAlgn val="ctr"/>
        <c:lblOffset val="100"/>
        <c:noMultiLvlLbl val="0"/>
      </c:catAx>
      <c:valAx>
        <c:axId val="12150850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51018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[brighttv_analysis cleaned dataset-PivotTable.xlsx]PivotTables!PivotTable5</c:name>
    <c:fmtId val="-1"/>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Views by Gender</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ontourW="25400">
            <a:contourClr>
              <a:schemeClr val="lt1"/>
            </a:contourClr>
          </a:sp3d>
        </c:spPr>
      </c:pivotFmt>
      <c:pivotFmt>
        <c:idx val="3"/>
        <c:spPr>
          <a:solidFill>
            <a:schemeClr val="accent2"/>
          </a:solidFill>
          <a:ln>
            <a:noFill/>
          </a:ln>
          <a:effectLst/>
          <a:sp3d contourW="25400">
            <a:contourClr>
              <a:schemeClr val="lt1"/>
            </a:contourClr>
          </a:sp3d>
        </c:spPr>
      </c:pivotFmt>
      <c:pivotFmt>
        <c:idx val="4"/>
        <c:spPr>
          <a:solidFill>
            <a:schemeClr val="accent2"/>
          </a:solidFill>
          <a:ln>
            <a:noFill/>
          </a:ln>
          <a:effectLst/>
          <a:sp3d contourW="25400">
            <a:contourClr>
              <a:schemeClr val="lt1"/>
            </a:contourClr>
          </a:sp3d>
        </c:spPr>
      </c:pivotFmt>
      <c:pivotFmt>
        <c:idx val="5"/>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a:sp3d contourW="25400">
            <a:contourClr>
              <a:schemeClr val="lt1"/>
            </a:contourClr>
          </a:sp3d>
        </c:spPr>
      </c:pivotFmt>
      <c:pivotFmt>
        <c:idx val="7"/>
        <c:spPr>
          <a:solidFill>
            <a:schemeClr val="accent2"/>
          </a:solidFill>
          <a:ln>
            <a:noFill/>
          </a:ln>
          <a:effectLst/>
          <a:sp3d contourW="25400">
            <a:contourClr>
              <a:schemeClr val="lt1"/>
            </a:contourClr>
          </a:sp3d>
        </c:spPr>
      </c:pivotFmt>
      <c:pivotFmt>
        <c:idx val="8"/>
        <c:spPr>
          <a:solidFill>
            <a:schemeClr val="accent2"/>
          </a:solidFill>
          <a:ln>
            <a:noFill/>
          </a:ln>
          <a:effectLst/>
          <a:sp3d contourW="25400">
            <a:contourClr>
              <a:schemeClr val="lt1"/>
            </a:contourClr>
          </a:sp3d>
        </c:spPr>
      </c:pivotFmt>
      <c:pivotFmt>
        <c:idx val="9"/>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a:sp3d contourW="25400">
            <a:contourClr>
              <a:schemeClr val="lt1"/>
            </a:contourClr>
          </a:sp3d>
        </c:spPr>
      </c:pivotFmt>
      <c:pivotFmt>
        <c:idx val="11"/>
        <c:spPr>
          <a:solidFill>
            <a:schemeClr val="accent2"/>
          </a:solidFill>
          <a:ln>
            <a:noFill/>
          </a:ln>
          <a:effectLst/>
          <a:sp3d contourW="25400">
            <a:contourClr>
              <a:schemeClr val="lt1"/>
            </a:contourClr>
          </a:sp3d>
        </c:spPr>
      </c:pivotFmt>
      <c:pivotFmt>
        <c:idx val="12"/>
        <c:spPr>
          <a:solidFill>
            <a:schemeClr val="accent2"/>
          </a:solidFill>
          <a:ln>
            <a:noFill/>
          </a:ln>
          <a:effectLst/>
          <a:sp3d contourW="25400">
            <a:contourClr>
              <a:schemeClr val="lt1"/>
            </a:contourClr>
          </a:sp3d>
        </c:spPr>
      </c:pivotFmt>
      <c:pivotFmt>
        <c:idx val="13"/>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2"/>
          </a:solidFill>
          <a:ln>
            <a:noFill/>
          </a:ln>
          <a:effectLst/>
          <a:sp3d contourW="25400">
            <a:contourClr>
              <a:schemeClr val="lt1"/>
            </a:contourClr>
          </a:sp3d>
        </c:spPr>
      </c:pivotFmt>
      <c:pivotFmt>
        <c:idx val="15"/>
        <c:spPr>
          <a:solidFill>
            <a:schemeClr val="accent2"/>
          </a:solidFill>
          <a:ln>
            <a:noFill/>
          </a:ln>
          <a:effectLst/>
          <a:sp3d contourW="25400">
            <a:contourClr>
              <a:schemeClr val="lt1"/>
            </a:contourClr>
          </a:sp3d>
        </c:spPr>
      </c:pivotFmt>
      <c:pivotFmt>
        <c:idx val="16"/>
        <c:spPr>
          <a:solidFill>
            <a:schemeClr val="accent2"/>
          </a:solidFill>
          <a:ln>
            <a:noFill/>
          </a:ln>
          <a:effectLst/>
          <a:sp3d contourW="25400">
            <a:contourClr>
              <a:schemeClr val="lt1"/>
            </a:contourClr>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PivotTables!$B$84</c:f>
              <c:strCache>
                <c:ptCount val="1"/>
                <c:pt idx="0">
                  <c:v>Total</c:v>
                </c:pt>
              </c:strCache>
            </c:strRef>
          </c:tx>
          <c:dPt>
            <c:idx val="0"/>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1218-4CB0-B48F-52193C2A7BA8}"/>
              </c:ext>
            </c:extLst>
          </c:dPt>
          <c:dPt>
            <c:idx val="1"/>
            <c:bubble3D val="0"/>
            <c:spPr>
              <a:solidFill>
                <a:schemeClr val="accent4"/>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1218-4CB0-B48F-52193C2A7BA8}"/>
              </c:ext>
            </c:extLst>
          </c:dPt>
          <c:dPt>
            <c:idx val="2"/>
            <c:bubble3D val="0"/>
            <c:spPr>
              <a:solidFill>
                <a:schemeClr val="accent6"/>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5-1218-4CB0-B48F-52193C2A7BA8}"/>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PivotTables!$A$85:$A$88</c:f>
              <c:strCache>
                <c:ptCount val="3"/>
                <c:pt idx="0">
                  <c:v>female</c:v>
                </c:pt>
                <c:pt idx="1">
                  <c:v>male</c:v>
                </c:pt>
                <c:pt idx="2">
                  <c:v>None</c:v>
                </c:pt>
              </c:strCache>
            </c:strRef>
          </c:cat>
          <c:val>
            <c:numRef>
              <c:f>PivotTables!$B$85:$B$88</c:f>
              <c:numCache>
                <c:formatCode>General</c:formatCode>
                <c:ptCount val="3"/>
                <c:pt idx="0">
                  <c:v>977</c:v>
                </c:pt>
                <c:pt idx="1">
                  <c:v>8761</c:v>
                </c:pt>
                <c:pt idx="2">
                  <c:v>262</c:v>
                </c:pt>
              </c:numCache>
            </c:numRef>
          </c:val>
          <c:extLst>
            <c:ext xmlns:c16="http://schemas.microsoft.com/office/drawing/2014/chart" uri="{C3380CC4-5D6E-409C-BE32-E72D297353CC}">
              <c16:uniqueId val="{00000006-1218-4CB0-B48F-52193C2A7BA8}"/>
            </c:ext>
          </c:extLst>
        </c:ser>
        <c:dLbls>
          <c:dLblPos val="ctr"/>
          <c:showLegendKey val="0"/>
          <c:showVal val="0"/>
          <c:showCatName val="0"/>
          <c:showSerName val="0"/>
          <c:showPercent val="1"/>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[brighttv_analysis_cleaned with PivotTables and Dashboard.xlsx]Views by Age Group!PivotTable10</c:name>
    <c:fmtId val="1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Views by Age Groups</a:t>
            </a:r>
          </a:p>
        </c:rich>
      </c:tx>
      <c:layout>
        <c:manualLayout>
          <c:xMode val="edge"/>
          <c:yMode val="edge"/>
          <c:x val="0.3847371160853722"/>
          <c:y val="3.545897223373394E-2"/>
        </c:manualLayout>
      </c:layout>
      <c:overlay val="0"/>
      <c:spPr>
        <a:solidFill>
          <a:schemeClr val="accent3"/>
        </a:solid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'Views by Age Group'!$B$3</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cat>
            <c:strRef>
              <c:f>'Views by Age Group'!$A$4:$A$9</c:f>
              <c:strCache>
                <c:ptCount val="5"/>
                <c:pt idx="0">
                  <c:v>Youth</c:v>
                </c:pt>
                <c:pt idx="1">
                  <c:v>Adults</c:v>
                </c:pt>
                <c:pt idx="2">
                  <c:v>Teenagers</c:v>
                </c:pt>
                <c:pt idx="3">
                  <c:v>Kids</c:v>
                </c:pt>
                <c:pt idx="4">
                  <c:v>Pensioners</c:v>
                </c:pt>
              </c:strCache>
            </c:strRef>
          </c:cat>
          <c:val>
            <c:numRef>
              <c:f>'Views by Age Group'!$B$4:$B$9</c:f>
              <c:numCache>
                <c:formatCode>General</c:formatCode>
                <c:ptCount val="5"/>
                <c:pt idx="0">
                  <c:v>5376</c:v>
                </c:pt>
                <c:pt idx="1">
                  <c:v>3562</c:v>
                </c:pt>
                <c:pt idx="2">
                  <c:v>436</c:v>
                </c:pt>
                <c:pt idx="3">
                  <c:v>359</c:v>
                </c:pt>
                <c:pt idx="4">
                  <c:v>267</c:v>
                </c:pt>
              </c:numCache>
            </c:numRef>
          </c:val>
          <c:extLst>
            <c:ext xmlns:c16="http://schemas.microsoft.com/office/drawing/2014/chart" uri="{C3380CC4-5D6E-409C-BE32-E72D297353CC}">
              <c16:uniqueId val="{00000000-A00A-47B4-A89F-A7791BE867A2}"/>
            </c:ext>
          </c:extLst>
        </c:ser>
        <c:dLbls>
          <c:showLegendKey val="0"/>
          <c:showVal val="0"/>
          <c:showCatName val="0"/>
          <c:showSerName val="0"/>
          <c:showPercent val="0"/>
          <c:showBubbleSize val="0"/>
        </c:dLbls>
        <c:gapWidth val="65"/>
        <c:shape val="box"/>
        <c:axId val="1738546272"/>
        <c:axId val="1738564032"/>
        <c:axId val="0"/>
      </c:bar3DChart>
      <c:catAx>
        <c:axId val="1738546272"/>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738564032"/>
        <c:crosses val="autoZero"/>
        <c:auto val="1"/>
        <c:lblAlgn val="ctr"/>
        <c:lblOffset val="100"/>
        <c:noMultiLvlLbl val="0"/>
      </c:catAx>
      <c:valAx>
        <c:axId val="173856403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7385462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pivotSource>
    <c:name>[brighttv_analysis cleaned dataset.xlsx]PivotTables!PivotTable4</c:name>
    <c:fmtId val="-1"/>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Views by Province</a:t>
            </a:r>
          </a:p>
        </c:rich>
      </c:tx>
      <c:layout>
        <c:manualLayout>
          <c:xMode val="edge"/>
          <c:yMode val="edge"/>
          <c:x val="0.4238001227389509"/>
          <c:y val="2.2733231644473759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2655987684498485"/>
          <c:y val="0.12439596092155145"/>
          <c:w val="0.66738687386665829"/>
          <c:h val="0.62968613298337706"/>
        </c:manualLayout>
      </c:layout>
      <c:barChart>
        <c:barDir val="bar"/>
        <c:grouping val="clustered"/>
        <c:varyColors val="0"/>
        <c:ser>
          <c:idx val="0"/>
          <c:order val="0"/>
          <c:tx>
            <c:strRef>
              <c:f>PivotTables!$B$69</c:f>
              <c:strCache>
                <c:ptCount val="1"/>
                <c:pt idx="0">
                  <c:v>Total</c:v>
                </c:pt>
              </c:strCache>
            </c:strRef>
          </c:tx>
          <c:spPr>
            <a:solidFill>
              <a:schemeClr val="accent4">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PivotTables!$A$70:$A$80</c:f>
              <c:strCache>
                <c:ptCount val="10"/>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strCache>
            </c:strRef>
          </c:cat>
          <c:val>
            <c:numRef>
              <c:f>PivotTables!$B$70:$B$80</c:f>
              <c:numCache>
                <c:formatCode>General</c:formatCode>
                <c:ptCount val="10"/>
                <c:pt idx="0">
                  <c:v>690</c:v>
                </c:pt>
                <c:pt idx="1">
                  <c:v>292</c:v>
                </c:pt>
                <c:pt idx="2">
                  <c:v>3654</c:v>
                </c:pt>
                <c:pt idx="3">
                  <c:v>1001</c:v>
                </c:pt>
                <c:pt idx="4">
                  <c:v>763</c:v>
                </c:pt>
                <c:pt idx="5">
                  <c:v>918</c:v>
                </c:pt>
                <c:pt idx="6">
                  <c:v>263</c:v>
                </c:pt>
                <c:pt idx="7">
                  <c:v>344</c:v>
                </c:pt>
                <c:pt idx="8">
                  <c:v>230</c:v>
                </c:pt>
                <c:pt idx="9">
                  <c:v>1845</c:v>
                </c:pt>
              </c:numCache>
            </c:numRef>
          </c:val>
          <c:extLst>
            <c:ext xmlns:c16="http://schemas.microsoft.com/office/drawing/2014/chart" uri="{C3380CC4-5D6E-409C-BE32-E72D297353CC}">
              <c16:uniqueId val="{00000000-8F32-410D-A18E-E044C98762FD}"/>
            </c:ext>
          </c:extLst>
        </c:ser>
        <c:dLbls>
          <c:dLblPos val="inEnd"/>
          <c:showLegendKey val="0"/>
          <c:showVal val="1"/>
          <c:showCatName val="0"/>
          <c:showSerName val="0"/>
          <c:showPercent val="0"/>
          <c:showBubbleSize val="0"/>
        </c:dLbls>
        <c:gapWidth val="65"/>
        <c:axId val="986793119"/>
        <c:axId val="986808479"/>
      </c:barChart>
      <c:catAx>
        <c:axId val="986793119"/>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986808479"/>
        <c:crosses val="autoZero"/>
        <c:auto val="1"/>
        <c:lblAlgn val="ctr"/>
        <c:lblOffset val="100"/>
        <c:noMultiLvlLbl val="0"/>
      </c:catAx>
      <c:valAx>
        <c:axId val="986808479"/>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986793119"/>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7"/>
    </mc:Choice>
    <mc:Fallback>
      <c:style val="7"/>
    </mc:Fallback>
  </mc:AlternateContent>
  <c:pivotSource>
    <c:name>[brighttv_analysis cleaned dataset.xlsx]PivotTables!PivotTable14</c:name>
    <c:fmtId val="-1"/>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ZA"/>
              <a:t>Top 10 Channels</a:t>
            </a:r>
            <a:endParaRPr lang="en-US"/>
          </a:p>
        </c:rich>
      </c:tx>
      <c:layout>
        <c:manualLayout>
          <c:xMode val="edge"/>
          <c:yMode val="edge"/>
          <c:x val="0.42210573078631719"/>
          <c:y val="4.5275590551181105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5">
              <a:alpha val="85000"/>
            </a:schemeClr>
          </a:solidFill>
          <a:ln w="9525" cap="flat" cmpd="sng" algn="ctr">
            <a:solidFill>
              <a:schemeClr val="accent5">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alpha val="85000"/>
            </a:schemeClr>
          </a:solidFill>
          <a:ln w="9525" cap="flat" cmpd="sng" algn="ctr">
            <a:solidFill>
              <a:schemeClr val="accent5">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alpha val="85000"/>
            </a:schemeClr>
          </a:solidFill>
          <a:ln w="9525" cap="flat" cmpd="sng" algn="ctr">
            <a:solidFill>
              <a:schemeClr val="accent5">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5">
              <a:alpha val="85000"/>
            </a:schemeClr>
          </a:solidFill>
          <a:ln w="9525" cap="flat" cmpd="sng" algn="ctr">
            <a:solidFill>
              <a:schemeClr val="accent5">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5">
              <a:alpha val="85000"/>
            </a:schemeClr>
          </a:solidFill>
          <a:ln w="9525" cap="flat" cmpd="sng" algn="ctr">
            <a:solidFill>
              <a:schemeClr val="accent5">
                <a:lumMod val="75000"/>
              </a:schemeClr>
            </a:solid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PivotTables!$B$132</c:f>
              <c:strCache>
                <c:ptCount val="1"/>
                <c:pt idx="0">
                  <c:v>Total</c:v>
                </c:pt>
              </c:strCache>
            </c:strRef>
          </c:tx>
          <c:spPr>
            <a:solidFill>
              <a:schemeClr val="accent5">
                <a:alpha val="85000"/>
              </a:schemeClr>
            </a:solidFill>
            <a:ln w="9525" cap="flat" cmpd="sng" algn="ctr">
              <a:solidFill>
                <a:schemeClr val="accent5">
                  <a:lumMod val="75000"/>
                </a:schemeClr>
              </a:solidFill>
              <a:round/>
            </a:ln>
            <a:effectLst/>
            <a:sp3d contourW="9525">
              <a:contourClr>
                <a:schemeClr val="accent5">
                  <a:lumMod val="75000"/>
                </a:schemeClr>
              </a:contourClr>
            </a:sp3d>
          </c:spPr>
          <c:invertIfNegative val="0"/>
          <c:cat>
            <c:strRef>
              <c:f>PivotTables!$A$133:$A$143</c:f>
              <c:strCache>
                <c:ptCount val="10"/>
                <c:pt idx="0">
                  <c:v>Supersport Live Events</c:v>
                </c:pt>
                <c:pt idx="1">
                  <c:v>ICC Cricket World Cup 2011</c:v>
                </c:pt>
                <c:pt idx="2">
                  <c:v>Channel O</c:v>
                </c:pt>
                <c:pt idx="3">
                  <c:v>Trace TV</c:v>
                </c:pt>
                <c:pt idx="4">
                  <c:v>SuperSport Blitz</c:v>
                </c:pt>
                <c:pt idx="5">
                  <c:v>Africa Magic</c:v>
                </c:pt>
                <c:pt idx="6">
                  <c:v>Cartoon Network</c:v>
                </c:pt>
                <c:pt idx="7">
                  <c:v>Boomerang</c:v>
                </c:pt>
                <c:pt idx="8">
                  <c:v>CNN</c:v>
                </c:pt>
                <c:pt idx="9">
                  <c:v>E! Entertainment</c:v>
                </c:pt>
              </c:strCache>
            </c:strRef>
          </c:cat>
          <c:val>
            <c:numRef>
              <c:f>PivotTables!$B$133:$B$143</c:f>
              <c:numCache>
                <c:formatCode>General</c:formatCode>
                <c:ptCount val="10"/>
                <c:pt idx="0">
                  <c:v>1662</c:v>
                </c:pt>
                <c:pt idx="1">
                  <c:v>1465</c:v>
                </c:pt>
                <c:pt idx="2">
                  <c:v>1050</c:v>
                </c:pt>
                <c:pt idx="3">
                  <c:v>952</c:v>
                </c:pt>
                <c:pt idx="4">
                  <c:v>896</c:v>
                </c:pt>
                <c:pt idx="5">
                  <c:v>859</c:v>
                </c:pt>
                <c:pt idx="6">
                  <c:v>793</c:v>
                </c:pt>
                <c:pt idx="7">
                  <c:v>714</c:v>
                </c:pt>
                <c:pt idx="8">
                  <c:v>505</c:v>
                </c:pt>
                <c:pt idx="9">
                  <c:v>367</c:v>
                </c:pt>
              </c:numCache>
            </c:numRef>
          </c:val>
          <c:extLst>
            <c:ext xmlns:c16="http://schemas.microsoft.com/office/drawing/2014/chart" uri="{C3380CC4-5D6E-409C-BE32-E72D297353CC}">
              <c16:uniqueId val="{00000000-9BFE-4E3C-8AA7-D7A053E61E33}"/>
            </c:ext>
          </c:extLst>
        </c:ser>
        <c:dLbls>
          <c:showLegendKey val="0"/>
          <c:showVal val="0"/>
          <c:showCatName val="0"/>
          <c:showSerName val="0"/>
          <c:showPercent val="0"/>
          <c:showBubbleSize val="0"/>
        </c:dLbls>
        <c:gapWidth val="65"/>
        <c:shape val="box"/>
        <c:axId val="1374541583"/>
        <c:axId val="1374528143"/>
        <c:axId val="0"/>
      </c:bar3DChart>
      <c:catAx>
        <c:axId val="1374541583"/>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374528143"/>
        <c:crosses val="autoZero"/>
        <c:auto val="1"/>
        <c:lblAlgn val="ctr"/>
        <c:lblOffset val="100"/>
        <c:noMultiLvlLbl val="0"/>
      </c:catAx>
      <c:valAx>
        <c:axId val="1374528143"/>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1374541583"/>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pivotSource>
    <c:name>[brighttv_analysis cleaned dataset.xlsx]PivotTables!PivotTable4</c:name>
    <c:fmtId val="11"/>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Views by Province</a:t>
            </a:r>
          </a:p>
        </c:rich>
      </c:tx>
      <c:layout>
        <c:manualLayout>
          <c:xMode val="edge"/>
          <c:yMode val="edge"/>
          <c:x val="0.4238001227389509"/>
          <c:y val="2.2733231644473759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4">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2655987684498485"/>
          <c:y val="0.12439596092155145"/>
          <c:w val="0.66738687386665829"/>
          <c:h val="0.62968613298337706"/>
        </c:manualLayout>
      </c:layout>
      <c:barChart>
        <c:barDir val="bar"/>
        <c:grouping val="clustered"/>
        <c:varyColors val="0"/>
        <c:ser>
          <c:idx val="0"/>
          <c:order val="0"/>
          <c:tx>
            <c:strRef>
              <c:f>PivotTables!$B$69</c:f>
              <c:strCache>
                <c:ptCount val="1"/>
                <c:pt idx="0">
                  <c:v>Total</c:v>
                </c:pt>
              </c:strCache>
            </c:strRef>
          </c:tx>
          <c:spPr>
            <a:solidFill>
              <a:schemeClr val="accent4">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PivotTables!$A$70:$A$80</c:f>
              <c:strCache>
                <c:ptCount val="10"/>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strCache>
            </c:strRef>
          </c:cat>
          <c:val>
            <c:numRef>
              <c:f>PivotTables!$B$70:$B$80</c:f>
              <c:numCache>
                <c:formatCode>General</c:formatCode>
                <c:ptCount val="10"/>
                <c:pt idx="0">
                  <c:v>690</c:v>
                </c:pt>
                <c:pt idx="1">
                  <c:v>292</c:v>
                </c:pt>
                <c:pt idx="2">
                  <c:v>3654</c:v>
                </c:pt>
                <c:pt idx="3">
                  <c:v>1001</c:v>
                </c:pt>
                <c:pt idx="4">
                  <c:v>763</c:v>
                </c:pt>
                <c:pt idx="5">
                  <c:v>918</c:v>
                </c:pt>
                <c:pt idx="6">
                  <c:v>263</c:v>
                </c:pt>
                <c:pt idx="7">
                  <c:v>344</c:v>
                </c:pt>
                <c:pt idx="8">
                  <c:v>230</c:v>
                </c:pt>
                <c:pt idx="9">
                  <c:v>1845</c:v>
                </c:pt>
              </c:numCache>
            </c:numRef>
          </c:val>
          <c:extLst>
            <c:ext xmlns:c16="http://schemas.microsoft.com/office/drawing/2014/chart" uri="{C3380CC4-5D6E-409C-BE32-E72D297353CC}">
              <c16:uniqueId val="{00000000-E884-43F8-8B51-F50AD0BFD7C4}"/>
            </c:ext>
          </c:extLst>
        </c:ser>
        <c:dLbls>
          <c:dLblPos val="inEnd"/>
          <c:showLegendKey val="0"/>
          <c:showVal val="1"/>
          <c:showCatName val="0"/>
          <c:showSerName val="0"/>
          <c:showPercent val="0"/>
          <c:showBubbleSize val="0"/>
        </c:dLbls>
        <c:gapWidth val="65"/>
        <c:axId val="986793119"/>
        <c:axId val="986808479"/>
      </c:barChart>
      <c:catAx>
        <c:axId val="986793119"/>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986808479"/>
        <c:crosses val="autoZero"/>
        <c:auto val="1"/>
        <c:lblAlgn val="ctr"/>
        <c:lblOffset val="100"/>
        <c:noMultiLvlLbl val="0"/>
      </c:catAx>
      <c:valAx>
        <c:axId val="986808479"/>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986793119"/>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[brighttv_analysis_cleaned with PivotTables and Dashboard.xlsx]Views by Age Group!PivotTable10</c:name>
    <c:fmtId val="1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Views by Age Groups</a:t>
            </a:r>
          </a:p>
        </c:rich>
      </c:tx>
      <c:layout>
        <c:manualLayout>
          <c:xMode val="edge"/>
          <c:yMode val="edge"/>
          <c:x val="0.3847371160853722"/>
          <c:y val="3.545897223373394E-2"/>
        </c:manualLayout>
      </c:layout>
      <c:overlay val="0"/>
      <c:spPr>
        <a:solidFill>
          <a:schemeClr val="accent3"/>
        </a:solid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'Views by Age Group'!$B$3</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cat>
            <c:strRef>
              <c:f>'Views by Age Group'!$A$4:$A$9</c:f>
              <c:strCache>
                <c:ptCount val="5"/>
                <c:pt idx="0">
                  <c:v>Youth</c:v>
                </c:pt>
                <c:pt idx="1">
                  <c:v>Adults</c:v>
                </c:pt>
                <c:pt idx="2">
                  <c:v>Teenagers</c:v>
                </c:pt>
                <c:pt idx="3">
                  <c:v>Kids</c:v>
                </c:pt>
                <c:pt idx="4">
                  <c:v>Pensioners</c:v>
                </c:pt>
              </c:strCache>
            </c:strRef>
          </c:cat>
          <c:val>
            <c:numRef>
              <c:f>'Views by Age Group'!$B$4:$B$9</c:f>
              <c:numCache>
                <c:formatCode>General</c:formatCode>
                <c:ptCount val="5"/>
                <c:pt idx="0">
                  <c:v>5376</c:v>
                </c:pt>
                <c:pt idx="1">
                  <c:v>3562</c:v>
                </c:pt>
                <c:pt idx="2">
                  <c:v>436</c:v>
                </c:pt>
                <c:pt idx="3">
                  <c:v>359</c:v>
                </c:pt>
                <c:pt idx="4">
                  <c:v>267</c:v>
                </c:pt>
              </c:numCache>
            </c:numRef>
          </c:val>
          <c:extLst>
            <c:ext xmlns:c16="http://schemas.microsoft.com/office/drawing/2014/chart" uri="{C3380CC4-5D6E-409C-BE32-E72D297353CC}">
              <c16:uniqueId val="{00000000-690F-44B5-A24C-2FE6548FCCC3}"/>
            </c:ext>
          </c:extLst>
        </c:ser>
        <c:dLbls>
          <c:showLegendKey val="0"/>
          <c:showVal val="0"/>
          <c:showCatName val="0"/>
          <c:showSerName val="0"/>
          <c:showPercent val="0"/>
          <c:showBubbleSize val="0"/>
        </c:dLbls>
        <c:gapWidth val="65"/>
        <c:shape val="box"/>
        <c:axId val="1738546272"/>
        <c:axId val="1738564032"/>
        <c:axId val="0"/>
      </c:bar3DChart>
      <c:catAx>
        <c:axId val="1738546272"/>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738564032"/>
        <c:crosses val="autoZero"/>
        <c:auto val="1"/>
        <c:lblAlgn val="ctr"/>
        <c:lblOffset val="100"/>
        <c:noMultiLvlLbl val="0"/>
      </c:catAx>
      <c:valAx>
        <c:axId val="173856403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7385462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[brighttv_analysis_cleaned with PivotTables and Dashboard.xlsx]Total Views by Race!PivotTable5</c:name>
    <c:fmtId val="25"/>
  </c:pivotSource>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ZA"/>
              <a:t>Total Views by Race</a:t>
            </a:r>
            <a:endParaRPr lang="en-US"/>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1"/>
          <c:showBubbleSize val="0"/>
          <c:extLst>
            <c:ext xmlns:c15="http://schemas.microsoft.com/office/drawing/2012/chart" uri="{CE6537A1-D6FC-4f65-9D91-7224C49458BB}"/>
          </c:extLst>
        </c:dLbl>
      </c:pivotFmt>
      <c:pivotFmt>
        <c:idx val="1"/>
        <c:dLbl>
          <c:idx val="0"/>
          <c:showLegendKey val="0"/>
          <c:showVal val="0"/>
          <c:showCatName val="0"/>
          <c:showSerName val="0"/>
          <c:showPercent val="1"/>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pivotFmt>
      <c:pivotFmt>
        <c:idx val="7"/>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9"/>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2"/>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3"/>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4"/>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5"/>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6"/>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9"/>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3"/>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4"/>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s>
    <c:plotArea>
      <c:layout/>
      <c:doughnutChart>
        <c:varyColors val="1"/>
        <c:ser>
          <c:idx val="0"/>
          <c:order val="0"/>
          <c:tx>
            <c:strRef>
              <c:f>'Total Views by Race'!$B$3</c:f>
              <c:strCache>
                <c:ptCount val="1"/>
                <c:pt idx="0">
                  <c:v>Total</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E240-4016-8A7D-C96FB0AA961E}"/>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E240-4016-8A7D-C96FB0AA961E}"/>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E240-4016-8A7D-C96FB0AA961E}"/>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E240-4016-8A7D-C96FB0AA961E}"/>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E240-4016-8A7D-C96FB0AA961E}"/>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'Total Views by Race'!$A$4:$A$9</c:f>
              <c:strCache>
                <c:ptCount val="5"/>
                <c:pt idx="0">
                  <c:v>black</c:v>
                </c:pt>
                <c:pt idx="1">
                  <c:v>coloured</c:v>
                </c:pt>
                <c:pt idx="2">
                  <c:v>indian_asian</c:v>
                </c:pt>
                <c:pt idx="3">
                  <c:v>other</c:v>
                </c:pt>
                <c:pt idx="4">
                  <c:v>white</c:v>
                </c:pt>
              </c:strCache>
            </c:strRef>
          </c:cat>
          <c:val>
            <c:numRef>
              <c:f>'Total Views by Race'!$B$4:$B$9</c:f>
              <c:numCache>
                <c:formatCode>General</c:formatCode>
                <c:ptCount val="5"/>
                <c:pt idx="0">
                  <c:v>4331</c:v>
                </c:pt>
                <c:pt idx="1">
                  <c:v>1633</c:v>
                </c:pt>
                <c:pt idx="2">
                  <c:v>1575</c:v>
                </c:pt>
                <c:pt idx="3">
                  <c:v>1169</c:v>
                </c:pt>
                <c:pt idx="4">
                  <c:v>1292</c:v>
                </c:pt>
              </c:numCache>
            </c:numRef>
          </c:val>
          <c:extLst>
            <c:ext xmlns:c16="http://schemas.microsoft.com/office/drawing/2014/chart" uri="{C3380CC4-5D6E-409C-BE32-E72D297353CC}">
              <c16:uniqueId val="{0000000A-E240-4016-8A7D-C96FB0AA961E}"/>
            </c:ext>
          </c:extLst>
        </c:ser>
        <c:dLbls>
          <c:showLegendKey val="0"/>
          <c:showVal val="0"/>
          <c:showCatName val="0"/>
          <c:showSerName val="0"/>
          <c:showPercent val="1"/>
          <c:showBubbleSize val="0"/>
          <c:showLeaderLines val="1"/>
        </c:dLbls>
        <c:firstSliceAng val="0"/>
        <c:holeSize val="70"/>
      </c:doughnutChart>
      <c:spPr>
        <a:noFill/>
        <a:ln>
          <a:noFill/>
        </a:ln>
        <a:effectLst/>
      </c:spPr>
    </c:plotArea>
    <c:legend>
      <c:legendPos val="r"/>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withinLinear" id="18">
  <a:schemeClr val="accent5"/>
</cs:colorStyle>
</file>

<file path=ppt/charts/colors8.xml><?xml version="1.0" encoding="utf-8"?>
<cs:colorStyle xmlns:cs="http://schemas.microsoft.com/office/drawing/2012/chartStyle" xmlns:a="http://schemas.openxmlformats.org/drawingml/2006/main" meth="withinLinear" id="17">
  <a:schemeClr val="accent4"/>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3F568D-6475-49D5-B2C5-B59F3F575AF4}" type="datetimeFigureOut">
              <a:rPr lang="en-ZA" smtClean="0"/>
              <a:t>2026/04/19</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3844BA-9B8A-4813-8D23-F0ABC1A428E2}" type="slidenum">
              <a:rPr lang="en-ZA" smtClean="0"/>
              <a:t>‹#›</a:t>
            </a:fld>
            <a:endParaRPr lang="en-ZA"/>
          </a:p>
        </p:txBody>
      </p:sp>
    </p:spTree>
    <p:extLst>
      <p:ext uri="{BB962C8B-B14F-4D97-AF65-F5344CB8AC3E}">
        <p14:creationId xmlns:p14="http://schemas.microsoft.com/office/powerpoint/2010/main" val="2027173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Image source: Microsoft 365 content library</a:t>
            </a:r>
          </a:p>
        </p:txBody>
      </p:sp>
      <p:sp>
        <p:nvSpPr>
          <p:cNvPr id="4" name="Slide Number Placeholder 3"/>
          <p:cNvSpPr>
            <a:spLocks noGrp="1"/>
          </p:cNvSpPr>
          <p:nvPr>
            <p:ph type="sldNum" sz="quarter" idx="5"/>
          </p:nvPr>
        </p:nvSpPr>
        <p:spPr/>
        <p:txBody>
          <a:bodyPr/>
          <a:lstStyle/>
          <a:p>
            <a:fld id="{2ECF8E41-6026-4F76-99A0-B4E0B09B1E1E}" type="slidenum">
              <a:rPr lang="en-ZA" smtClean="0"/>
              <a:t>1</a:t>
            </a:fld>
            <a:endParaRPr lang="en-ZA"/>
          </a:p>
        </p:txBody>
      </p:sp>
    </p:spTree>
    <p:extLst>
      <p:ext uri="{BB962C8B-B14F-4D97-AF65-F5344CB8AC3E}">
        <p14:creationId xmlns:p14="http://schemas.microsoft.com/office/powerpoint/2010/main" val="308309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Project objectives and business challenges
 Dataset structure and characteristics
 Data preparation and cleaning process
 Analytical approach and methodology
 Key findings from analysis
 Strategic recommendations for BrightTV
 Tools and technologies utilised 
 Image source: Microsoft 365 content library</a:t>
            </a:r>
          </a:p>
        </p:txBody>
      </p:sp>
      <p:sp>
        <p:nvSpPr>
          <p:cNvPr id="4" name="Slide Number Placeholder 3"/>
          <p:cNvSpPr>
            <a:spLocks noGrp="1"/>
          </p:cNvSpPr>
          <p:nvPr>
            <p:ph type="sldNum" sz="quarter" idx="5"/>
          </p:nvPr>
        </p:nvSpPr>
        <p:spPr/>
        <p:txBody>
          <a:bodyPr/>
          <a:lstStyle/>
          <a:p>
            <a:fld id="{2ECF8E41-6026-4F76-99A0-B4E0B09B1E1E}" type="slidenum">
              <a:rPr lang="en-ZA" smtClean="0"/>
              <a:t>2</a:t>
            </a:fld>
            <a:endParaRPr lang="en-ZA"/>
          </a:p>
        </p:txBody>
      </p:sp>
    </p:spTree>
    <p:extLst>
      <p:ext uri="{BB962C8B-B14F-4D97-AF65-F5344CB8AC3E}">
        <p14:creationId xmlns:p14="http://schemas.microsoft.com/office/powerpoint/2010/main" val="256380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C3069-F4E8-7E4E-5872-A37F8E996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7FBB7-284D-3B84-CCDE-A12C0609A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1696E-BF73-A90E-808A-BB1CD0ECE20A}"/>
              </a:ext>
            </a:extLst>
          </p:cNvPr>
          <p:cNvSpPr>
            <a:spLocks noGrp="1"/>
          </p:cNvSpPr>
          <p:nvPr>
            <p:ph type="body" idx="1"/>
          </p:nvPr>
        </p:nvSpPr>
        <p:spPr/>
        <p:txBody>
          <a:bodyPr/>
          <a:lstStyle/>
          <a:p>
            <a:r>
              <a:rPr lang="en-ZA" dirty="0"/>
              <a:t>Data Analysis
Analysis was performed to identify:
</a:t>
            </a:r>
          </a:p>
          <a:p>
            <a:r>
              <a:rPr lang="en-ZA" dirty="0"/>
              <a:t>
User activity trends over time
</a:t>
            </a:r>
          </a:p>
          <a:p>
            <a:r>
              <a:rPr lang="en-ZA" dirty="0"/>
              <a:t>
Viewing trends by day and hour
</a:t>
            </a:r>
          </a:p>
          <a:p>
            <a:r>
              <a:rPr lang="en-ZA" dirty="0"/>
              <a:t>
Consumption by content category
</a:t>
            </a:r>
          </a:p>
          <a:p>
            <a:r>
              <a:rPr lang="en-ZA" dirty="0"/>
              <a:t>
Peak and low consumption periods
</a:t>
            </a:r>
          </a:p>
          <a:p>
            <a:r>
              <a:rPr lang="en-ZA" dirty="0"/>
              <a:t>
Factors influencing user consumption 
 Image source: Microsoft 365 content library</a:t>
            </a:r>
          </a:p>
        </p:txBody>
      </p:sp>
      <p:sp>
        <p:nvSpPr>
          <p:cNvPr id="4" name="Slide Number Placeholder 3">
            <a:extLst>
              <a:ext uri="{FF2B5EF4-FFF2-40B4-BE49-F238E27FC236}">
                <a16:creationId xmlns:a16="http://schemas.microsoft.com/office/drawing/2014/main" id="{DD1DFF13-713E-E632-29B8-DF645B593CAC}"/>
              </a:ext>
            </a:extLst>
          </p:cNvPr>
          <p:cNvSpPr>
            <a:spLocks noGrp="1"/>
          </p:cNvSpPr>
          <p:nvPr>
            <p:ph type="sldNum" sz="quarter" idx="5"/>
          </p:nvPr>
        </p:nvSpPr>
        <p:spPr/>
        <p:txBody>
          <a:bodyPr/>
          <a:lstStyle/>
          <a:p>
            <a:fld id="{2ECF8E41-6026-4F76-99A0-B4E0B09B1E1E}" type="slidenum">
              <a:rPr lang="en-ZA" smtClean="0"/>
              <a:t>3</a:t>
            </a:fld>
            <a:endParaRPr lang="en-ZA"/>
          </a:p>
        </p:txBody>
      </p:sp>
    </p:spTree>
    <p:extLst>
      <p:ext uri="{BB962C8B-B14F-4D97-AF65-F5344CB8AC3E}">
        <p14:creationId xmlns:p14="http://schemas.microsoft.com/office/powerpoint/2010/main" val="510363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C9040-24E2-8B89-B7FF-BD7A6FDB6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29E0B-ACC5-1DDE-0B32-B1AB31E09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3DBF6-AF5E-04B9-FA04-7C2605550EE7}"/>
              </a:ext>
            </a:extLst>
          </p:cNvPr>
          <p:cNvSpPr>
            <a:spLocks noGrp="1"/>
          </p:cNvSpPr>
          <p:nvPr>
            <p:ph type="body" idx="1"/>
          </p:nvPr>
        </p:nvSpPr>
        <p:spPr/>
        <p:txBody>
          <a:bodyPr/>
          <a:lstStyle/>
          <a:p>
            <a:r>
              <a:rPr lang="en-ZA" dirty="0"/>
              <a:t>Data Analysis
Analysis was performed to identify:
</a:t>
            </a:r>
          </a:p>
          <a:p>
            <a:r>
              <a:rPr lang="en-ZA" dirty="0"/>
              <a:t>
User activity trends over time
</a:t>
            </a:r>
          </a:p>
          <a:p>
            <a:r>
              <a:rPr lang="en-ZA" dirty="0"/>
              <a:t>
Viewing trends by day and hour
</a:t>
            </a:r>
          </a:p>
          <a:p>
            <a:r>
              <a:rPr lang="en-ZA" dirty="0"/>
              <a:t>
Consumption by content category
</a:t>
            </a:r>
          </a:p>
          <a:p>
            <a:r>
              <a:rPr lang="en-ZA" dirty="0"/>
              <a:t>
Peak and low consumption periods
</a:t>
            </a:r>
          </a:p>
          <a:p>
            <a:r>
              <a:rPr lang="en-ZA" dirty="0"/>
              <a:t>
Factors influencing user consumption 
 Image source: Microsoft 365 content library</a:t>
            </a:r>
          </a:p>
        </p:txBody>
      </p:sp>
      <p:sp>
        <p:nvSpPr>
          <p:cNvPr id="4" name="Slide Number Placeholder 3">
            <a:extLst>
              <a:ext uri="{FF2B5EF4-FFF2-40B4-BE49-F238E27FC236}">
                <a16:creationId xmlns:a16="http://schemas.microsoft.com/office/drawing/2014/main" id="{7A587FA4-BDF8-A478-C72C-38E0FBA4E13F}"/>
              </a:ext>
            </a:extLst>
          </p:cNvPr>
          <p:cNvSpPr>
            <a:spLocks noGrp="1"/>
          </p:cNvSpPr>
          <p:nvPr>
            <p:ph type="sldNum" sz="quarter" idx="5"/>
          </p:nvPr>
        </p:nvSpPr>
        <p:spPr/>
        <p:txBody>
          <a:bodyPr/>
          <a:lstStyle/>
          <a:p>
            <a:fld id="{2ECF8E41-6026-4F76-99A0-B4E0B09B1E1E}" type="slidenum">
              <a:rPr lang="en-ZA" smtClean="0"/>
              <a:t>4</a:t>
            </a:fld>
            <a:endParaRPr lang="en-ZA"/>
          </a:p>
        </p:txBody>
      </p:sp>
    </p:spTree>
    <p:extLst>
      <p:ext uri="{BB962C8B-B14F-4D97-AF65-F5344CB8AC3E}">
        <p14:creationId xmlns:p14="http://schemas.microsoft.com/office/powerpoint/2010/main" val="1208599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95893-ADC4-8535-BF81-FA73E6E80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E6FC5-B672-0CB4-F784-7D0EFBC75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EC41F-9A7C-B4F2-6126-C34938B46E8E}"/>
              </a:ext>
            </a:extLst>
          </p:cNvPr>
          <p:cNvSpPr>
            <a:spLocks noGrp="1"/>
          </p:cNvSpPr>
          <p:nvPr>
            <p:ph type="body" idx="1"/>
          </p:nvPr>
        </p:nvSpPr>
        <p:spPr/>
        <p:txBody>
          <a:bodyPr/>
          <a:lstStyle/>
          <a:p>
            <a:r>
              <a:rPr lang="en-ZA" dirty="0"/>
              <a:t>Data Analysis
Analysis was performed to identify:
</a:t>
            </a:r>
          </a:p>
          <a:p>
            <a:r>
              <a:rPr lang="en-ZA" dirty="0"/>
              <a:t>
User activity trends over time
</a:t>
            </a:r>
          </a:p>
          <a:p>
            <a:r>
              <a:rPr lang="en-ZA" dirty="0"/>
              <a:t>
Viewing trends by day and hour
</a:t>
            </a:r>
          </a:p>
          <a:p>
            <a:r>
              <a:rPr lang="en-ZA" dirty="0"/>
              <a:t>
Consumption by content category
</a:t>
            </a:r>
          </a:p>
          <a:p>
            <a:r>
              <a:rPr lang="en-ZA" dirty="0"/>
              <a:t>
Peak and low consumption periods
</a:t>
            </a:r>
          </a:p>
          <a:p>
            <a:r>
              <a:rPr lang="en-ZA" dirty="0"/>
              <a:t>
Factors influencing user consumption 
 Image source: Microsoft 365 content library</a:t>
            </a:r>
          </a:p>
        </p:txBody>
      </p:sp>
      <p:sp>
        <p:nvSpPr>
          <p:cNvPr id="4" name="Slide Number Placeholder 3">
            <a:extLst>
              <a:ext uri="{FF2B5EF4-FFF2-40B4-BE49-F238E27FC236}">
                <a16:creationId xmlns:a16="http://schemas.microsoft.com/office/drawing/2014/main" id="{BD4B5B77-1ABD-2751-2732-54AF00546B49}"/>
              </a:ext>
            </a:extLst>
          </p:cNvPr>
          <p:cNvSpPr>
            <a:spLocks noGrp="1"/>
          </p:cNvSpPr>
          <p:nvPr>
            <p:ph type="sldNum" sz="quarter" idx="5"/>
          </p:nvPr>
        </p:nvSpPr>
        <p:spPr/>
        <p:txBody>
          <a:bodyPr/>
          <a:lstStyle/>
          <a:p>
            <a:fld id="{2ECF8E41-6026-4F76-99A0-B4E0B09B1E1E}" type="slidenum">
              <a:rPr lang="en-ZA" smtClean="0"/>
              <a:t>5</a:t>
            </a:fld>
            <a:endParaRPr lang="en-ZA"/>
          </a:p>
        </p:txBody>
      </p:sp>
    </p:spTree>
    <p:extLst>
      <p:ext uri="{BB962C8B-B14F-4D97-AF65-F5344CB8AC3E}">
        <p14:creationId xmlns:p14="http://schemas.microsoft.com/office/powerpoint/2010/main" val="1559960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A9808-BA2E-7A6B-7D3D-84435D859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9B0BF-9B89-B94A-715C-4525145D6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31039-19B1-2069-4E9F-0368DEC9EFFD}"/>
              </a:ext>
            </a:extLst>
          </p:cNvPr>
          <p:cNvSpPr>
            <a:spLocks noGrp="1"/>
          </p:cNvSpPr>
          <p:nvPr>
            <p:ph type="body" idx="1"/>
          </p:nvPr>
        </p:nvSpPr>
        <p:spPr/>
        <p:txBody>
          <a:bodyPr/>
          <a:lstStyle/>
          <a:p>
            <a:r>
              <a:rPr lang="en-ZA" dirty="0"/>
              <a:t>Data Analysis
Analysis was performed to identify:
</a:t>
            </a:r>
          </a:p>
          <a:p>
            <a:r>
              <a:rPr lang="en-ZA" dirty="0"/>
              <a:t>
User activity trends over time
</a:t>
            </a:r>
          </a:p>
          <a:p>
            <a:r>
              <a:rPr lang="en-ZA" dirty="0"/>
              <a:t>
Viewing trends by day and hour
</a:t>
            </a:r>
          </a:p>
          <a:p>
            <a:r>
              <a:rPr lang="en-ZA" dirty="0"/>
              <a:t>
Consumption by content category
</a:t>
            </a:r>
          </a:p>
          <a:p>
            <a:r>
              <a:rPr lang="en-ZA" dirty="0"/>
              <a:t>
Peak and low consumption periods
</a:t>
            </a:r>
          </a:p>
          <a:p>
            <a:r>
              <a:rPr lang="en-ZA" dirty="0"/>
              <a:t>
Factors influencing user consumption 
 Image source: Microsoft 365 content library</a:t>
            </a:r>
          </a:p>
        </p:txBody>
      </p:sp>
      <p:sp>
        <p:nvSpPr>
          <p:cNvPr id="4" name="Slide Number Placeholder 3">
            <a:extLst>
              <a:ext uri="{FF2B5EF4-FFF2-40B4-BE49-F238E27FC236}">
                <a16:creationId xmlns:a16="http://schemas.microsoft.com/office/drawing/2014/main" id="{772DB46A-472D-4DD0-1524-E5693F665BD6}"/>
              </a:ext>
            </a:extLst>
          </p:cNvPr>
          <p:cNvSpPr>
            <a:spLocks noGrp="1"/>
          </p:cNvSpPr>
          <p:nvPr>
            <p:ph type="sldNum" sz="quarter" idx="5"/>
          </p:nvPr>
        </p:nvSpPr>
        <p:spPr/>
        <p:txBody>
          <a:bodyPr/>
          <a:lstStyle/>
          <a:p>
            <a:fld id="{2ECF8E41-6026-4F76-99A0-B4E0B09B1E1E}" type="slidenum">
              <a:rPr lang="en-ZA" smtClean="0"/>
              <a:t>6</a:t>
            </a:fld>
            <a:endParaRPr lang="en-ZA"/>
          </a:p>
        </p:txBody>
      </p:sp>
    </p:spTree>
    <p:extLst>
      <p:ext uri="{BB962C8B-B14F-4D97-AF65-F5344CB8AC3E}">
        <p14:creationId xmlns:p14="http://schemas.microsoft.com/office/powerpoint/2010/main" val="2930549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 analysis revealed the following insights:
</a:t>
            </a:r>
          </a:p>
          <a:p>
            <a:r>
              <a:rPr lang="en-ZA" dirty="0"/>
              <a:t>
User activity is higher in the evenings.
</a:t>
            </a:r>
          </a:p>
          <a:p>
            <a:r>
              <a:rPr lang="en-ZA" dirty="0"/>
              <a:t>
Weekends have higher consumption compared to weekdays.
</a:t>
            </a:r>
          </a:p>
          <a:p>
            <a:r>
              <a:rPr lang="en-ZA" dirty="0"/>
              <a:t>
Some days and time periods have very low consumption.
</a:t>
            </a:r>
          </a:p>
          <a:p>
            <a:r>
              <a:rPr lang="en-ZA" dirty="0"/>
              <a:t>
Certain content categories perform better than others.
</a:t>
            </a:r>
          </a:p>
          <a:p>
            <a:r>
              <a:rPr lang="en-ZA" dirty="0"/>
              <a:t>
Viewing behaviour follows predictable time patterns. 
 Image source: Microsoft 365 content library</a:t>
            </a:r>
          </a:p>
        </p:txBody>
      </p:sp>
      <p:sp>
        <p:nvSpPr>
          <p:cNvPr id="4" name="Slide Number Placeholder 3"/>
          <p:cNvSpPr>
            <a:spLocks noGrp="1"/>
          </p:cNvSpPr>
          <p:nvPr>
            <p:ph type="sldNum" sz="quarter" idx="5"/>
          </p:nvPr>
        </p:nvSpPr>
        <p:spPr/>
        <p:txBody>
          <a:bodyPr/>
          <a:lstStyle/>
          <a:p>
            <a:fld id="{2ECF8E41-6026-4F76-99A0-B4E0B09B1E1E}" type="slidenum">
              <a:rPr lang="en-ZA" smtClean="0"/>
              <a:t>7</a:t>
            </a:fld>
            <a:endParaRPr lang="en-ZA"/>
          </a:p>
        </p:txBody>
      </p:sp>
    </p:spTree>
    <p:extLst>
      <p:ext uri="{BB962C8B-B14F-4D97-AF65-F5344CB8AC3E}">
        <p14:creationId xmlns:p14="http://schemas.microsoft.com/office/powerpoint/2010/main" val="2000757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Based on the analysis, the following recommendations were made:
Release new content on low consumption days to increase engagement.
</a:t>
            </a:r>
          </a:p>
          <a:p>
            <a:r>
              <a:rPr lang="en-ZA"/>
              <a:t>
Promote high-performing content categories.
</a:t>
            </a:r>
          </a:p>
          <a:p>
            <a:r>
              <a:rPr lang="en-ZA"/>
              <a:t>
Offer promotions during low viewing periods.
</a:t>
            </a:r>
          </a:p>
          <a:p>
            <a:r>
              <a:rPr lang="en-ZA"/>
              <a:t>
Implement personalised content recommendations.
</a:t>
            </a:r>
          </a:p>
          <a:p>
            <a:r>
              <a:rPr lang="en-ZA"/>
              <a:t>
Introduce loyalty or subscription incentives.
</a:t>
            </a:r>
          </a:p>
          <a:p>
            <a:r>
              <a:rPr lang="en-ZA"/>
              <a:t>
Run marketing campaigns targeting inactive users.
</a:t>
            </a:r>
          </a:p>
          <a:p>
            <a:r>
              <a:rPr lang="en-ZA"/>
              <a:t>
Improve content scheduling based on peak viewing times.</a:t>
            </a:r>
          </a:p>
        </p:txBody>
      </p:sp>
      <p:sp>
        <p:nvSpPr>
          <p:cNvPr id="4" name="Slide Number Placeholder 3"/>
          <p:cNvSpPr>
            <a:spLocks noGrp="1"/>
          </p:cNvSpPr>
          <p:nvPr>
            <p:ph type="sldNum" sz="quarter" idx="5"/>
          </p:nvPr>
        </p:nvSpPr>
        <p:spPr/>
        <p:txBody>
          <a:bodyPr/>
          <a:lstStyle/>
          <a:p>
            <a:fld id="{2ECF8E41-6026-4F76-99A0-B4E0B09B1E1E}" type="slidenum">
              <a:rPr lang="en-ZA" smtClean="0"/>
              <a:t>8</a:t>
            </a:fld>
            <a:endParaRPr lang="en-ZA"/>
          </a:p>
        </p:txBody>
      </p:sp>
    </p:spTree>
    <p:extLst>
      <p:ext uri="{BB962C8B-B14F-4D97-AF65-F5344CB8AC3E}">
        <p14:creationId xmlns:p14="http://schemas.microsoft.com/office/powerpoint/2010/main" val="414006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This presentation has outlined how BrightTV's viewership analytics project addresses key business challenges by leveraging comprehensive data analysis, cleaning, and visualisation techniques. The findings reveal important user behaviour patterns, enabling strategic recommendations to boost engagement and subscriptions. Utilizing advanced tools and methodologies, BrightTV is well-positioned to make data-driven decisions that enhance viewer satisfaction and business growth.</a:t>
            </a:r>
          </a:p>
        </p:txBody>
      </p:sp>
      <p:sp>
        <p:nvSpPr>
          <p:cNvPr id="4" name="Slide Number Placeholder 3"/>
          <p:cNvSpPr>
            <a:spLocks noGrp="1"/>
          </p:cNvSpPr>
          <p:nvPr>
            <p:ph type="sldNum" sz="quarter" idx="5"/>
          </p:nvPr>
        </p:nvSpPr>
        <p:spPr/>
        <p:txBody>
          <a:bodyPr/>
          <a:lstStyle/>
          <a:p>
            <a:fld id="{2ECF8E41-6026-4F76-99A0-B4E0B09B1E1E}" type="slidenum">
              <a:rPr lang="en-ZA" smtClean="0"/>
              <a:t>9</a:t>
            </a:fld>
            <a:endParaRPr lang="en-ZA"/>
          </a:p>
        </p:txBody>
      </p:sp>
    </p:spTree>
    <p:extLst>
      <p:ext uri="{BB962C8B-B14F-4D97-AF65-F5344CB8AC3E}">
        <p14:creationId xmlns:p14="http://schemas.microsoft.com/office/powerpoint/2010/main" val="1581504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anchor="t">
            <a:normAutofit/>
          </a:bodyPr>
          <a:lstStyle>
            <a:lvl1pPr algn="l">
              <a:defRPr sz="9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CF91071A-A69E-4756-A27D-7C7C5F9F32BB}"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931880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0D1C923-C708-4EAA-A92A-FF81A8F7DA0D}"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121302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anchor="t">
            <a:normAutofit/>
          </a:bodyPr>
          <a:lstStyle>
            <a:lvl1pPr algn="l">
              <a:defRPr sz="125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761AAA3-5155-4231-8EEA-4F6426D8887B}"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779001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t">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A94E042F-6826-4E41-A6B0-8BF606E4151E}"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1146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srcRect/>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3E408205-B154-4943-AEBC-86E16421E5DB}"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06444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D144122-2A67-493C-895E-2682608B0F6A}"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p:nvPr>
        </p:nvSpPr>
        <p:spPr>
          <a:xfrm>
            <a:off x="6517247" y="342900"/>
            <a:ext cx="5334000"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a:blip r:embed="rId2"/>
            <a:stretch>
              <a:fillRect/>
            </a:stretch>
          </a:blipFill>
        </p:spPr>
        <p:txBody>
          <a:bodyPr wrap="square">
            <a:noAutofit/>
          </a:bodyPr>
          <a:lstStyle/>
          <a:p>
            <a:endParaRPr lang="en-US" dirty="0"/>
          </a:p>
        </p:txBody>
      </p:sp>
    </p:spTree>
    <p:extLst>
      <p:ext uri="{BB962C8B-B14F-4D97-AF65-F5344CB8AC3E}">
        <p14:creationId xmlns:p14="http://schemas.microsoft.com/office/powerpoint/2010/main" val="37828621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486A74E5-A9C0-4E5C-851E-13F6D920EA1A}"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20219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3188DBF3-F598-4A31-8E9B-511F7F0D5E47}" type="datetime1">
              <a:rPr lang="en-US" smtClean="0"/>
              <a:t>4/19/2026</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404380193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3188DBF3-F598-4A31-8E9B-511F7F0D5E47}" type="datetime1">
              <a:rPr lang="en-US" smtClean="0"/>
              <a:pPr/>
              <a:t>4/19/2026</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268501394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4/19/2026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6110237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3" y="1012952"/>
            <a:ext cx="4023360" cy="1636776"/>
          </a:xfrm>
        </p:spPr>
        <p:txBody>
          <a:bodyPr anchor="b">
            <a:normAutofit/>
          </a:bodyPr>
          <a:lstStyle>
            <a:lvl1pPr>
              <a:defRPr sz="4800"/>
            </a:lvl1pPr>
          </a:lstStyle>
          <a:p>
            <a:r>
              <a:rPr lang="en-US"/>
              <a:t>Click to edit Master title style</a:t>
            </a:r>
          </a:p>
        </p:txBody>
      </p:sp>
      <p:sp>
        <p:nvSpPr>
          <p:cNvPr id="10" name="Picture Placeholder 7">
            <a:extLst>
              <a:ext uri="{FF2B5EF4-FFF2-40B4-BE49-F238E27FC236}">
                <a16:creationId xmlns:a16="http://schemas.microsoft.com/office/drawing/2014/main" id="{BA22E09C-1954-DBFC-E669-2449D22D2D2E}"/>
              </a:ext>
            </a:extLst>
          </p:cNvPr>
          <p:cNvSpPr>
            <a:spLocks noGrp="1"/>
          </p:cNvSpPr>
          <p:nvPr>
            <p:ph type="pic" sz="quarter" idx="14"/>
          </p:nvPr>
        </p:nvSpPr>
        <p:spPr>
          <a:xfrm>
            <a:off x="342901" y="345109"/>
            <a:ext cx="6714969" cy="6163508"/>
          </a:xfrm>
          <a:custGeom>
            <a:avLst/>
            <a:gdLst>
              <a:gd name="connsiteX0" fmla="*/ 312551 w 6714969"/>
              <a:gd name="connsiteY0" fmla="*/ 0 h 6163508"/>
              <a:gd name="connsiteX1" fmla="*/ 6402418 w 6714969"/>
              <a:gd name="connsiteY1" fmla="*/ 0 h 6163508"/>
              <a:gd name="connsiteX2" fmla="*/ 6714969 w 6714969"/>
              <a:gd name="connsiteY2" fmla="*/ 312551 h 6163508"/>
              <a:gd name="connsiteX3" fmla="*/ 6714969 w 6714969"/>
              <a:gd name="connsiteY3" fmla="*/ 5850957 h 6163508"/>
              <a:gd name="connsiteX4" fmla="*/ 6402418 w 6714969"/>
              <a:gd name="connsiteY4" fmla="*/ 6163508 h 6163508"/>
              <a:gd name="connsiteX5" fmla="*/ 312551 w 6714969"/>
              <a:gd name="connsiteY5" fmla="*/ 6163508 h 6163508"/>
              <a:gd name="connsiteX6" fmla="*/ 0 w 6714969"/>
              <a:gd name="connsiteY6" fmla="*/ 5850957 h 6163508"/>
              <a:gd name="connsiteX7" fmla="*/ 0 w 6714969"/>
              <a:gd name="connsiteY7" fmla="*/ 312551 h 6163508"/>
              <a:gd name="connsiteX8" fmla="*/ 312551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312551" y="0"/>
                </a:moveTo>
                <a:lnTo>
                  <a:pt x="6402418" y="0"/>
                </a:lnTo>
                <a:cubicBezTo>
                  <a:pt x="6575035" y="0"/>
                  <a:pt x="6714969" y="139934"/>
                  <a:pt x="6714969" y="312551"/>
                </a:cubicBezTo>
                <a:lnTo>
                  <a:pt x="6714969" y="5850957"/>
                </a:lnTo>
                <a:cubicBezTo>
                  <a:pt x="6714969" y="6023574"/>
                  <a:pt x="6575035" y="6163508"/>
                  <a:pt x="6402418" y="6163508"/>
                </a:cubicBezTo>
                <a:lnTo>
                  <a:pt x="312551" y="6163508"/>
                </a:lnTo>
                <a:cubicBezTo>
                  <a:pt x="139934" y="6163508"/>
                  <a:pt x="0" y="6023574"/>
                  <a:pt x="0" y="5850957"/>
                </a:cubicBezTo>
                <a:lnTo>
                  <a:pt x="0" y="312551"/>
                </a:lnTo>
                <a:cubicBezTo>
                  <a:pt x="0" y="139934"/>
                  <a:pt x="139934" y="0"/>
                  <a:pt x="312551" y="0"/>
                </a:cubicBezTo>
                <a:close/>
              </a:path>
            </a:pathLst>
          </a:custGeom>
          <a:blipFill>
            <a:blip r:embed="rId2"/>
            <a:stretch>
              <a:fillRect/>
            </a:stretch>
          </a:blipFill>
        </p:spPr>
        <p:txBody>
          <a:bodyPr wrap="square">
            <a:noAutofit/>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4/19/2026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50500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39D5A0-3316-4C32-929A-0D0DB97D10BB}"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92441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FBBADD7-305F-4EB9-8736-D791FAF7A4D4}"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35986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80"/>
            <a:ext cx="11328845" cy="74066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9768" y="1380744"/>
            <a:ext cx="11328844" cy="49011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649238A-C249-43B5-82BC-D29F8CAE992A}"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14149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546182-1DDF-4ACE-B05D-D855179AB21D}"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120854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879F24-F3CA-4AD0-8BF8-AB0BBB30EE08}"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37063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4342EAA-E00A-40E8-8E99-2669E0367007}"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83723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4035030-C135-4A24-944D-06B773D2F2E6}"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381508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AA5E6FB-0D10-49C4-88DE-98215C666BA1}"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55514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242880F-92D7-4796-B72D-6CF83054BAF5}"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215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523749-65BA-43BD-B2BF-FF5A4C96AE14}" type="datetime1">
              <a:rPr lang="en-US" smtClean="0"/>
              <a:t>4/19/2026</a:t>
            </a:fld>
            <a:endParaRPr lang="en-US" dirty="0"/>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5308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561C12A-E1D5-4BE9-85D9-F221F70F4931}"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941321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7BBDBE6-5750-4902-BDAA-20F546DD8AD7}" type="datetime1">
              <a:rPr lang="en-US" smtClean="0"/>
              <a:t>4/19/2026</a:t>
            </a:fld>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6890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01C4331-C33F-4DC1-AB74-C520A718CE2B}"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023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91A4764-83A9-4A81-9507-BED109D81520}" type="datetime1">
              <a:rPr lang="en-US" smtClean="0"/>
              <a:t>4/19/2026</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84867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9B2C6C9-D30C-4946-92A4-454A5FC69685}"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9122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D479CC6-BB04-42D6-AB0C-BAA184663D94}" type="datetime1">
              <a:rPr lang="en-US" smtClean="0"/>
              <a:t>4/19/2026</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389038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B3D66E4-8050-49E4-B8D2-06214BFB7C0A}"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78088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E7AEA2F-0823-4BD6-88F7-6D0D98F52C93}"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52271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6092A99-204A-46CE-8F70-09D6B2D34877}"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161820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749EA3-15DE-451B-A24B-ACC8EA0B6D09}" type="datetime1">
              <a:rPr lang="en-US" smtClean="0"/>
              <a:t>4/19/2026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173091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1343DB-FCC0-4D52-80F2-173D55390D61}" type="datetime1">
              <a:rPr lang="en-US" smtClean="0"/>
              <a:t>4/19/2026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231558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457C7506-9AD1-49AD-BE44-C83E35401EAD}" type="datetime1">
              <a:rPr lang="en-US" smtClean="0"/>
              <a:t>4/19/2026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180041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40080"/>
            <a:ext cx="11155680" cy="970463"/>
          </a:xfrm>
        </p:spPr>
        <p:txBody>
          <a:bodyPr anchor="ctr"/>
          <a:lstStyle/>
          <a:p>
            <a:r>
              <a:rPr lang="en-US"/>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F94BF2A-D949-4DFB-9912-9D6234B797F2}"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421114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563594C-FF61-4FB6-A5E4-597CB7D69CB6}"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362432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9D205C6-AA77-4A66-BB27-EE68DDD0D193}"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829272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64F05DF3-EEC7-45DF-A943-3E12702079E5}" type="datetime1">
              <a:rPr lang="en-US" smtClean="0"/>
              <a:t>4/19/2026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5" y="4989044"/>
            <a:ext cx="11201399" cy="1225296"/>
          </a:xfrm>
        </p:spPr>
        <p:txBody>
          <a:bodyPr>
            <a:normAutofit/>
          </a:bodyPr>
          <a:lstStyle>
            <a:lvl1pPr marL="0" indent="0" algn="ctr">
              <a:buNone/>
              <a:defRPr sz="2400">
                <a:solidFill>
                  <a:schemeClr val="tx2">
                    <a:lumMod val="90000"/>
                    <a:lumOff val="10000"/>
                  </a:schemeClr>
                </a:solidFill>
              </a:defRPr>
            </a:lvl1pPr>
            <a:lvl2pPr marL="228600" indent="0" algn="ctr">
              <a:buNone/>
              <a:defRPr sz="2000">
                <a:solidFill>
                  <a:schemeClr val="tx2">
                    <a:lumMod val="90000"/>
                    <a:lumOff val="10000"/>
                  </a:schemeClr>
                </a:solidFill>
              </a:defRPr>
            </a:lvl2pPr>
            <a:lvl3pPr marL="457200" indent="0" algn="ctr">
              <a:buNone/>
              <a:defRPr sz="1800">
                <a:solidFill>
                  <a:schemeClr val="tx2">
                    <a:lumMod val="90000"/>
                    <a:lumOff val="10000"/>
                  </a:schemeClr>
                </a:solidFill>
              </a:defRPr>
            </a:lvl3pPr>
            <a:lvl4pPr marL="685800" indent="0" algn="ctr">
              <a:buNone/>
              <a:defRPr sz="1600">
                <a:solidFill>
                  <a:schemeClr val="tx2">
                    <a:lumMod val="90000"/>
                    <a:lumOff val="10000"/>
                  </a:schemeClr>
                </a:solidFill>
              </a:defRPr>
            </a:lvl4pPr>
            <a:lvl5pPr marL="914400" indent="0" algn="ctr">
              <a:buNone/>
              <a:defRPr sz="14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360483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4F39EAFF-A363-4554-A2A5-F61FABD0CE04}" type="datetime1">
              <a:rPr lang="en-US" smtClean="0"/>
              <a:t>4/19/2026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6" y="4989044"/>
            <a:ext cx="11201400" cy="122529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920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29768" y="603504"/>
            <a:ext cx="11201400" cy="4206240"/>
          </a:xfrm>
        </p:spPr>
        <p:txBody>
          <a:bodyPr>
            <a:normAutofit/>
          </a:bodyPr>
          <a:lstStyle>
            <a:lvl1pPr algn="l">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90F47950-0717-4110-9557-F08D8A545BF8}" type="datetime1">
              <a:rPr lang="en-US" smtClean="0"/>
              <a:t>4/19/2026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29768" y="4809744"/>
            <a:ext cx="5897880" cy="1353312"/>
          </a:xfrm>
        </p:spPr>
        <p:txBody>
          <a:bodyPr>
            <a:normAutofit/>
          </a:bodyPr>
          <a:lstStyle>
            <a:lvl1pPr marL="0" indent="0" algn="l">
              <a:buNone/>
              <a:defRPr sz="2800">
                <a:solidFill>
                  <a:schemeClr val="tx2">
                    <a:lumMod val="90000"/>
                    <a:lumOff val="10000"/>
                  </a:schemeClr>
                </a:solidFill>
              </a:defRPr>
            </a:lvl1pPr>
            <a:lvl2pPr marL="228600" indent="0" algn="l">
              <a:buNone/>
              <a:defRPr sz="2400">
                <a:solidFill>
                  <a:schemeClr val="tx2">
                    <a:lumMod val="90000"/>
                    <a:lumOff val="10000"/>
                  </a:schemeClr>
                </a:solidFill>
              </a:defRPr>
            </a:lvl2pPr>
            <a:lvl3pPr marL="457200" indent="0" algn="l">
              <a:buNone/>
              <a:defRPr sz="2000">
                <a:solidFill>
                  <a:schemeClr val="tx2">
                    <a:lumMod val="90000"/>
                    <a:lumOff val="10000"/>
                  </a:schemeClr>
                </a:solidFill>
              </a:defRPr>
            </a:lvl3pPr>
            <a:lvl4pPr marL="685800" indent="0" algn="l">
              <a:buNone/>
              <a:defRPr sz="1800">
                <a:solidFill>
                  <a:schemeClr val="tx2">
                    <a:lumMod val="90000"/>
                    <a:lumOff val="10000"/>
                  </a:schemeClr>
                </a:solidFill>
              </a:defRPr>
            </a:lvl4pPr>
            <a:lvl5pPr marL="914400" indent="0" algn="l">
              <a:buNone/>
              <a:defRPr sz="16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098350"/>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11F94A-833D-4D19-8ACB-52DAEF08569A}" type="datetime1">
              <a:rPr lang="en-US" smtClean="0"/>
              <a:t>4/19/2026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78105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350C3A70-5484-4418-A739-7B973E09E7E8}" type="datetime1">
              <a:rPr lang="en-US" smtClean="0"/>
              <a:t>4/19/2026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76088"/>
            <a:ext cx="9198864" cy="466344"/>
          </a:xfrm>
        </p:spPr>
        <p:txBody>
          <a:bodyPr>
            <a:normAutofit/>
          </a:bodyPr>
          <a:lstStyle>
            <a:lvl1pPr marL="0" indent="0">
              <a:buNone/>
              <a:defRPr sz="2200" b="1">
                <a:solidFill>
                  <a:schemeClr val="tx2">
                    <a:lumMod val="75000"/>
                    <a:lumOff val="25000"/>
                  </a:schemeClr>
                </a:solidFill>
              </a:defRPr>
            </a:lvl1pPr>
            <a:lvl2pPr marL="228600" indent="0">
              <a:buNone/>
              <a:defRPr sz="2000" b="1">
                <a:solidFill>
                  <a:schemeClr val="tx2">
                    <a:lumMod val="75000"/>
                    <a:lumOff val="25000"/>
                  </a:schemeClr>
                </a:solidFill>
              </a:defRPr>
            </a:lvl2pPr>
            <a:lvl3pPr marL="457200" indent="0">
              <a:buNone/>
              <a:defRPr sz="1800" b="1">
                <a:solidFill>
                  <a:schemeClr val="tx2">
                    <a:lumMod val="75000"/>
                    <a:lumOff val="25000"/>
                  </a:schemeClr>
                </a:solidFill>
              </a:defRPr>
            </a:lvl3pPr>
            <a:lvl4pPr marL="685800" indent="0">
              <a:buNone/>
              <a:defRPr sz="1600" b="1">
                <a:solidFill>
                  <a:schemeClr val="tx2">
                    <a:lumMod val="75000"/>
                    <a:lumOff val="25000"/>
                  </a:schemeClr>
                </a:solidFill>
              </a:defRPr>
            </a:lvl4pPr>
            <a:lvl5pPr marL="914400" indent="0">
              <a:buNone/>
              <a:defRPr sz="1400" b="1">
                <a:solidFill>
                  <a:schemeClr val="tx2">
                    <a:lumMod val="75000"/>
                    <a:lumOff val="25000"/>
                  </a:schemeClr>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20012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4A9563B-AAD5-FEB6-A529-82D8BF95E524}"/>
              </a:ext>
            </a:extLst>
          </p:cNvPr>
          <p:cNvSpPr/>
          <p:nvPr userDrawn="1"/>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23A9960C-742D-4508-821A-E36FD033CDBF}" type="datetime1">
              <a:rPr lang="en-US" smtClean="0"/>
              <a:t>4/19/2026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02299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9619488" cy="4526280"/>
          </a:xfrm>
        </p:spPr>
        <p:txBody>
          <a:bodyPr anchor="ctr">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7E0D0A5-9A76-413F-B8E0-5A45841D7E46}"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918550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1179576"/>
            <a:ext cx="9317736" cy="3785616"/>
          </a:xfrm>
        </p:spPr>
        <p:txBody>
          <a:bodyPr anchor="b">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D0AF003-CBE1-47D7-BB91-14D8E3A57039}"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679039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FEEC48-96C8-40C8-BC32-68BFC261013A}"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779500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7079F91-8FDB-4AB3-84FB-6B8E68AF702B}" type="datetime1">
              <a:rPr lang="en-US" smtClean="0"/>
              <a:t>4/19/2026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140333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061D436-D43A-4662-BADB-33E2F793B997}" type="datetime1">
              <a:rPr lang="en-US" smtClean="0"/>
              <a:t>4/19/2026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1825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1DC9DBE-31FF-4D71-B719-92EBAC3193CE}" type="datetime1">
              <a:rPr lang="en-US" smtClean="0"/>
              <a:t>4/19/2026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565001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62F576B-5432-44C5-AE72-B8C78722FE99}" type="datetime1">
              <a:rPr lang="en-US" smtClean="0"/>
              <a:t>4/19/2026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836573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p:nvPr>
        </p:nvSpPr>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a:blip r:embed="rId2"/>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4366CE1-0051-42BD-BBD3-CB4EC65FC51D}" type="datetime1">
              <a:rPr lang="en-US" smtClean="0"/>
              <a:t>4/19/2026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446427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Autofit/>
          </a:bodyPr>
          <a:lstStyle>
            <a:lvl1pPr>
              <a:defRPr sz="8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D404B75-5BA7-423E-A6AE-B3781CB72AA9}"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81025376"/>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FC1F7B-2472-4057-932A-A13696216B5F}"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5250132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A7B9ABC-2BDA-432C-8D53-84813DB6E36F}" type="datetime1">
              <a:rPr lang="en-US" smtClean="0"/>
              <a:t>4/19/2026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CC057153-B650-4DEB-B370-79DDCFDCE934}"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2742918"/>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A7B9ABC-2BDA-432C-8D53-84813DB6E36F}" type="datetime1">
              <a:rPr lang="en-US" smtClean="0"/>
              <a:t>4/19/2026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65654809"/>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188DBF3-F598-4A31-8E9B-511F7F0D5E47}" type="datetime1">
              <a:rPr lang="en-US" smtClean="0"/>
              <a:t>4/19/2026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145AC3-CC88-4C8A-A6CE-8D44921B6A23}"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Rectangle 6">
            <a:extLst>
              <a:ext uri="{FF2B5EF4-FFF2-40B4-BE49-F238E27FC236}">
                <a16:creationId xmlns:a16="http://schemas.microsoft.com/office/drawing/2014/main" id="{8505DBBD-121C-29D7-C596-B58FEBE3108E}"/>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25977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A7B9ABC-2BDA-432C-8D53-84813DB6E36F}" type="datetime1">
              <a:rPr lang="en-US" smtClean="0"/>
              <a:t>4/19/2026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7764159"/>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A7B9ABC-2BDA-432C-8D53-84813DB6E36F}" type="datetime1">
              <a:rPr lang="en-US" smtClean="0"/>
              <a:t>4/19/2026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3264376"/>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061D436-D43A-4662-BADB-33E2F793B997}" type="datetime1">
              <a:rPr lang="en-US" smtClean="0"/>
              <a:t>4/19/2026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360946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DC9DBE-31FF-4D71-B719-92EBAC3193CE}" type="datetime1">
              <a:rPr lang="en-US" smtClean="0"/>
              <a:t>4/19/2026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562481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62F576B-5432-44C5-AE72-B8C78722FE99}" type="datetime1">
              <a:rPr lang="en-US" smtClean="0"/>
              <a:t>4/19/2026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66736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4366CE1-0051-42BD-BBD3-CB4EC65FC51D}" type="datetime1">
              <a:rPr lang="en-US" smtClean="0"/>
              <a:t>4/19/2026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58372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A7B9ABC-2BDA-432C-8D53-84813DB6E36F}" type="datetime1">
              <a:rPr lang="en-US" smtClean="0"/>
              <a:t>4/19/2026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6234187"/>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A7B9ABC-2BDA-432C-8D53-84813DB6E36F}" type="datetime1">
              <a:rPr lang="en-US" smtClean="0"/>
              <a:t>4/19/2026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235326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image" Target="../media/image10.jp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2.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00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8A7B9ABC-2BDA-432C-8D53-84813DB6E36F}" type="datetime1">
              <a:rPr lang="en-US" smtClean="0"/>
              <a:t>4/19/2026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495210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00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A7B9ABC-2BDA-432C-8D53-84813DB6E36F}" type="datetime1">
              <a:rPr lang="en-US" smtClean="0"/>
              <a:t>4/19/2026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C057153-B650-4DEB-B370-79DDCFDCE934}"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541294"/>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54.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54.xml"/><Relationship Id="rId5" Type="http://schemas.openxmlformats.org/officeDocument/2006/relationships/chart" Target="../charts/chart6.xml"/><Relationship Id="rId4" Type="http://schemas.openxmlformats.org/officeDocument/2006/relationships/chart" Target="../charts/chart5.xml"/></Relationships>
</file>

<file path=ppt/slides/_rels/slide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5.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6.xml"/><Relationship Id="rId1" Type="http://schemas.openxmlformats.org/officeDocument/2006/relationships/slideLayout" Target="../slideLayouts/slideLayout54.xml"/><Relationship Id="rId4" Type="http://schemas.openxmlformats.org/officeDocument/2006/relationships/chart" Target="../charts/chart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54.xml"/><Relationship Id="rId4" Type="http://schemas.openxmlformats.org/officeDocument/2006/relationships/chart" Target="../charts/char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54.xml"/><Relationship Id="rId5" Type="http://schemas.openxmlformats.org/officeDocument/2006/relationships/image" Target="../media/image15.svg"/><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254D766-4E4D-4C38-A17E-3AE82E5C8F93}"/>
              </a:ext>
            </a:extLst>
          </p:cNvPr>
          <p:cNvSpPr txBox="1"/>
          <p:nvPr/>
        </p:nvSpPr>
        <p:spPr>
          <a:xfrm>
            <a:off x="1411377" y="513707"/>
            <a:ext cx="9643617" cy="922866"/>
          </a:xfrm>
          <a:prstGeom prst="rect">
            <a:avLst/>
          </a:prstGeom>
          <a:noFill/>
        </p:spPr>
        <p:txBody>
          <a:bodyPr wrap="square" rtlCol="0">
            <a:normAutofit/>
          </a:bodyPr>
          <a:lstStyle/>
          <a:p>
            <a:pPr marL="0" algn="l">
              <a:buNone/>
            </a:pPr>
            <a:r>
              <a:rPr sz="4500" b="1" dirty="0">
                <a:solidFill>
                  <a:schemeClr val="bg1"/>
                </a:solidFill>
                <a:effectLst/>
                <a:latin typeface="Avenir Next LT Pro Bold"/>
              </a:rPr>
              <a:t>BRIGHTTV </a:t>
            </a:r>
            <a:r>
              <a:rPr lang="en-ZA" sz="4500" b="1" dirty="0">
                <a:solidFill>
                  <a:schemeClr val="bg1"/>
                </a:solidFill>
                <a:effectLst/>
                <a:latin typeface="Avenir Next LT Pro Bold"/>
              </a:rPr>
              <a:t>ANALYTICS OVERVIEW</a:t>
            </a:r>
            <a:r>
              <a:rPr lang="en-ZA" dirty="0">
                <a:solidFill>
                  <a:schemeClr val="bg1"/>
                </a:solidFill>
                <a:effectLst/>
              </a:rPr>
              <a:t> </a:t>
            </a:r>
            <a:endParaRPr lang="en-ZA" dirty="0">
              <a:solidFill>
                <a:schemeClr val="bg1"/>
              </a:solidFill>
            </a:endParaRPr>
          </a:p>
        </p:txBody>
      </p:sp>
      <p:sp>
        <p:nvSpPr>
          <p:cNvPr id="7" name="TextBox 6">
            <a:extLst>
              <a:ext uri="{FF2B5EF4-FFF2-40B4-BE49-F238E27FC236}">
                <a16:creationId xmlns:a16="http://schemas.microsoft.com/office/drawing/2014/main" id="{4995313D-C563-4681-B0C2-3FEF04A092E1}"/>
              </a:ext>
            </a:extLst>
          </p:cNvPr>
          <p:cNvSpPr txBox="1"/>
          <p:nvPr/>
        </p:nvSpPr>
        <p:spPr>
          <a:xfrm>
            <a:off x="0" y="5215467"/>
            <a:ext cx="6431622" cy="922866"/>
          </a:xfrm>
          <a:prstGeom prst="rect">
            <a:avLst/>
          </a:prstGeom>
          <a:noFill/>
        </p:spPr>
        <p:txBody>
          <a:bodyPr wrap="square" rtlCol="0">
            <a:normAutofit lnSpcReduction="10000"/>
          </a:bodyPr>
          <a:lstStyle/>
          <a:p>
            <a:pPr marL="0" algn="l">
              <a:buNone/>
            </a:pPr>
            <a:r>
              <a:rPr lang="en-US" sz="2400" b="1" dirty="0">
                <a:solidFill>
                  <a:schemeClr val="bg1"/>
                </a:solidFill>
                <a:latin typeface="Avenir Next LT Pro Bold" panose="020B0804020202020204" pitchFamily="34" charset="0"/>
              </a:rPr>
              <a:t>Title : </a:t>
            </a:r>
            <a:r>
              <a:rPr lang="en-US" sz="2400" b="1" dirty="0" err="1">
                <a:solidFill>
                  <a:schemeClr val="bg1"/>
                </a:solidFill>
                <a:effectLst/>
                <a:latin typeface="Avenir Next LT Pro Bold" panose="020B0804020202020204" pitchFamily="34" charset="0"/>
              </a:rPr>
              <a:t>BrightTV</a:t>
            </a:r>
            <a:r>
              <a:rPr lang="en-US" sz="2400" b="1" dirty="0">
                <a:solidFill>
                  <a:schemeClr val="bg1"/>
                </a:solidFill>
                <a:effectLst/>
                <a:latin typeface="Avenir Next LT Pro Bold" panose="020B0804020202020204" pitchFamily="34" charset="0"/>
              </a:rPr>
              <a:t> </a:t>
            </a:r>
            <a:r>
              <a:rPr sz="2400" b="1" dirty="0">
                <a:solidFill>
                  <a:schemeClr val="bg1"/>
                </a:solidFill>
                <a:effectLst/>
                <a:latin typeface="Avenir Next LT Pro Bold" panose="020B0804020202020204" pitchFamily="34" charset="0"/>
              </a:rPr>
              <a:t>Viewership insights</a:t>
            </a:r>
            <a:endParaRPr lang="en-US" sz="2400" b="1" dirty="0">
              <a:solidFill>
                <a:schemeClr val="bg1"/>
              </a:solidFill>
              <a:effectLst/>
              <a:latin typeface="Avenir Next LT Pro Bold" panose="020B0804020202020204" pitchFamily="34" charset="0"/>
            </a:endParaRPr>
          </a:p>
          <a:p>
            <a:pPr marL="0" algn="l">
              <a:buNone/>
            </a:pPr>
            <a:r>
              <a:rPr lang="en-ZA" b="1" dirty="0">
                <a:solidFill>
                  <a:schemeClr val="bg1"/>
                </a:solidFill>
                <a:latin typeface="Avenir Next LT Pro Bold" panose="020B0804020202020204" pitchFamily="34" charset="0"/>
              </a:rPr>
              <a:t>Author : Nyandano Mathoma | Junior Data Analyst</a:t>
            </a:r>
          </a:p>
          <a:p>
            <a:pPr marL="0" algn="l">
              <a:buNone/>
            </a:pPr>
            <a:r>
              <a:rPr lang="en-ZA" sz="1600" b="1" dirty="0">
                <a:solidFill>
                  <a:schemeClr val="bg1"/>
                </a:solidFill>
                <a:latin typeface="Avenir Next LT Pro Bold" panose="020B0804020202020204" pitchFamily="34" charset="0"/>
              </a:rPr>
              <a:t>DATE : April 2026</a:t>
            </a:r>
            <a:endParaRPr lang="en-ZA" sz="1050" dirty="0">
              <a:solidFill>
                <a:schemeClr val="bg1"/>
              </a:solidFill>
            </a:endParaRPr>
          </a:p>
        </p:txBody>
      </p:sp>
    </p:spTree>
    <p:extLst>
      <p:ext uri="{BB962C8B-B14F-4D97-AF65-F5344CB8AC3E}">
        <p14:creationId xmlns:p14="http://schemas.microsoft.com/office/powerpoint/2010/main" val="3771103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410E041-31E6-456A-9594-6911AE8360DC}"/>
              </a:ext>
            </a:extLst>
          </p:cNvPr>
          <p:cNvSpPr txBox="1"/>
          <p:nvPr/>
        </p:nvSpPr>
        <p:spPr>
          <a:xfrm>
            <a:off x="4031376" y="1162800"/>
            <a:ext cx="4129248" cy="571500"/>
          </a:xfrm>
          <a:prstGeom prst="rect">
            <a:avLst/>
          </a:prstGeom>
          <a:noFill/>
        </p:spPr>
        <p:txBody>
          <a:bodyPr wrap="square" rtlCol="0">
            <a:normAutofit fontScale="55000" lnSpcReduction="20000"/>
          </a:bodyPr>
          <a:lstStyle/>
          <a:p>
            <a:r>
              <a:rPr lang="en-ZA" sz="4800" b="1" dirty="0">
                <a:solidFill>
                  <a:srgbClr val="6D7BF7"/>
                </a:solidFill>
                <a:latin typeface="Avenir Next LT Pro" panose="020B0504020202020204" pitchFamily="34" charset="0"/>
              </a:rPr>
              <a:t>INTRODUCTION</a:t>
            </a:r>
            <a:endParaRPr lang="en-ZA" sz="4800" dirty="0"/>
          </a:p>
          <a:p>
            <a:r>
              <a:rPr dirty="0">
                <a:effectLst/>
              </a:rPr>
              <a:t> </a:t>
            </a:r>
            <a:endParaRPr lang="en-ZA" dirty="0"/>
          </a:p>
        </p:txBody>
      </p:sp>
      <p:sp>
        <p:nvSpPr>
          <p:cNvPr id="7" name="TextBox 6">
            <a:extLst>
              <a:ext uri="{FF2B5EF4-FFF2-40B4-BE49-F238E27FC236}">
                <a16:creationId xmlns:a16="http://schemas.microsoft.com/office/drawing/2014/main" id="{41C6D00D-BF21-4E04-B44A-A5D46E1C14D1}"/>
              </a:ext>
            </a:extLst>
          </p:cNvPr>
          <p:cNvSpPr txBox="1"/>
          <p:nvPr/>
        </p:nvSpPr>
        <p:spPr>
          <a:xfrm>
            <a:off x="1325366" y="1945133"/>
            <a:ext cx="10495159" cy="1209033"/>
          </a:xfrm>
          <a:prstGeom prst="rect">
            <a:avLst/>
          </a:prstGeom>
          <a:noFill/>
        </p:spPr>
        <p:txBody>
          <a:bodyPr wrap="square" rtlCol="0">
            <a:normAutofit/>
          </a:bodyPr>
          <a:lstStyle/>
          <a:p>
            <a:r>
              <a:rPr lang="en-US" sz="2000" dirty="0">
                <a:solidFill>
                  <a:srgbClr val="002060"/>
                </a:solidFill>
              </a:rPr>
              <a:t>The purpose of this analysis is to evaluate </a:t>
            </a:r>
            <a:r>
              <a:rPr lang="en-US" sz="2000" dirty="0" err="1">
                <a:solidFill>
                  <a:srgbClr val="002060"/>
                </a:solidFill>
              </a:rPr>
              <a:t>BrightTV’s</a:t>
            </a:r>
            <a:r>
              <a:rPr lang="en-US" sz="2000" dirty="0">
                <a:solidFill>
                  <a:srgbClr val="002060"/>
                </a:solidFill>
              </a:rPr>
              <a:t> user engagement and viewing patterns by examining demographic, and content-related data. The findings provide actionable insights to enhance content strategy, improve user experience, and drive business growth.</a:t>
            </a:r>
            <a:endParaRPr lang="en-ZA" sz="2000" dirty="0">
              <a:solidFill>
                <a:srgbClr val="002060"/>
              </a:solidFill>
            </a:endParaRPr>
          </a:p>
        </p:txBody>
      </p:sp>
      <p:sp>
        <p:nvSpPr>
          <p:cNvPr id="3" name="TextBox 2">
            <a:extLst>
              <a:ext uri="{FF2B5EF4-FFF2-40B4-BE49-F238E27FC236}">
                <a16:creationId xmlns:a16="http://schemas.microsoft.com/office/drawing/2014/main" id="{80A00EEF-D9B8-2F24-0CE2-94D91C7FA52A}"/>
              </a:ext>
            </a:extLst>
          </p:cNvPr>
          <p:cNvSpPr txBox="1"/>
          <p:nvPr/>
        </p:nvSpPr>
        <p:spPr>
          <a:xfrm>
            <a:off x="4130212" y="3330240"/>
            <a:ext cx="3565132" cy="461665"/>
          </a:xfrm>
          <a:prstGeom prst="rect">
            <a:avLst/>
          </a:prstGeom>
          <a:noFill/>
        </p:spPr>
        <p:txBody>
          <a:bodyPr wrap="square">
            <a:spAutoFit/>
          </a:bodyPr>
          <a:lstStyle/>
          <a:p>
            <a:pPr marL="0" algn="l">
              <a:buNone/>
            </a:pPr>
            <a:r>
              <a:rPr lang="en-ZA" sz="2400" dirty="0">
                <a:solidFill>
                  <a:srgbClr val="6D7BF7"/>
                </a:solidFill>
                <a:effectLst/>
                <a:latin typeface="Avenir Next LT Pro Bold" panose="020B0804020202020204" pitchFamily="34" charset="0"/>
              </a:rPr>
              <a:t>DATA SOURCES</a:t>
            </a:r>
            <a:endParaRPr lang="en-ZA" sz="2400" dirty="0"/>
          </a:p>
        </p:txBody>
      </p:sp>
      <p:sp>
        <p:nvSpPr>
          <p:cNvPr id="8" name="TextBox 7">
            <a:extLst>
              <a:ext uri="{FF2B5EF4-FFF2-40B4-BE49-F238E27FC236}">
                <a16:creationId xmlns:a16="http://schemas.microsoft.com/office/drawing/2014/main" id="{E0A1159F-B10E-40F7-D42C-70639FEC40D9}"/>
              </a:ext>
            </a:extLst>
          </p:cNvPr>
          <p:cNvSpPr txBox="1"/>
          <p:nvPr/>
        </p:nvSpPr>
        <p:spPr>
          <a:xfrm>
            <a:off x="1222625" y="3875647"/>
            <a:ext cx="10495158" cy="646331"/>
          </a:xfrm>
          <a:prstGeom prst="rect">
            <a:avLst/>
          </a:prstGeom>
          <a:noFill/>
        </p:spPr>
        <p:txBody>
          <a:bodyPr wrap="square">
            <a:spAutoFit/>
          </a:bodyPr>
          <a:lstStyle/>
          <a:p>
            <a:r>
              <a:rPr lang="en-US" dirty="0">
                <a:solidFill>
                  <a:srgbClr val="002060"/>
                </a:solidFill>
              </a:rPr>
              <a:t>Viewership data – contains user viewing activity, channel watched, date and duration. </a:t>
            </a:r>
          </a:p>
          <a:p>
            <a:r>
              <a:rPr lang="en-US" dirty="0">
                <a:solidFill>
                  <a:srgbClr val="002060"/>
                </a:solidFill>
              </a:rPr>
              <a:t>User profile data – contains user demographic information such as age, gender, race, and province.</a:t>
            </a:r>
          </a:p>
        </p:txBody>
      </p:sp>
    </p:spTree>
    <p:extLst>
      <p:ext uri="{BB962C8B-B14F-4D97-AF65-F5344CB8AC3E}">
        <p14:creationId xmlns:p14="http://schemas.microsoft.com/office/powerpoint/2010/main" val="3413790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761A89-E27F-DAC7-FE36-C2EB0092473B}"/>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FC94D6BC-CDC4-4459-94D3-5ECD3F6E3127}"/>
              </a:ext>
            </a:extLst>
          </p:cNvPr>
          <p:cNvGraphicFramePr>
            <a:graphicFrameLocks/>
          </p:cNvGraphicFramePr>
          <p:nvPr>
            <p:extLst>
              <p:ext uri="{D42A27DB-BD31-4B8C-83A1-F6EECF244321}">
                <p14:modId xmlns:p14="http://schemas.microsoft.com/office/powerpoint/2010/main" val="3004551719"/>
              </p:ext>
            </p:extLst>
          </p:nvPr>
        </p:nvGraphicFramePr>
        <p:xfrm>
          <a:off x="5816600" y="1254741"/>
          <a:ext cx="6375399" cy="25544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EDEF338F-F64E-4B7E-AEFF-9909F14E328B}"/>
              </a:ext>
            </a:extLst>
          </p:cNvPr>
          <p:cNvGraphicFramePr>
            <a:graphicFrameLocks/>
          </p:cNvGraphicFramePr>
          <p:nvPr>
            <p:extLst>
              <p:ext uri="{D42A27DB-BD31-4B8C-83A1-F6EECF244321}">
                <p14:modId xmlns:p14="http://schemas.microsoft.com/office/powerpoint/2010/main" val="1579522431"/>
              </p:ext>
            </p:extLst>
          </p:nvPr>
        </p:nvGraphicFramePr>
        <p:xfrm>
          <a:off x="5816601" y="3844741"/>
          <a:ext cx="6375399" cy="30132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05585548-6ABB-4B54-BDCC-C91BFD65B75C}"/>
              </a:ext>
            </a:extLst>
          </p:cNvPr>
          <p:cNvGraphicFramePr>
            <a:graphicFrameLocks/>
          </p:cNvGraphicFramePr>
          <p:nvPr>
            <p:extLst>
              <p:ext uri="{D42A27DB-BD31-4B8C-83A1-F6EECF244321}">
                <p14:modId xmlns:p14="http://schemas.microsoft.com/office/powerpoint/2010/main" val="1955442661"/>
              </p:ext>
            </p:extLst>
          </p:nvPr>
        </p:nvGraphicFramePr>
        <p:xfrm>
          <a:off x="1" y="3369732"/>
          <a:ext cx="5816600" cy="3488267"/>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a:extLst>
              <a:ext uri="{FF2B5EF4-FFF2-40B4-BE49-F238E27FC236}">
                <a16:creationId xmlns:a16="http://schemas.microsoft.com/office/drawing/2014/main" id="{27BC4EE1-59E5-7575-0B57-60B6BE685C82}"/>
              </a:ext>
            </a:extLst>
          </p:cNvPr>
          <p:cNvSpPr txBox="1"/>
          <p:nvPr/>
        </p:nvSpPr>
        <p:spPr>
          <a:xfrm>
            <a:off x="2734734" y="54591"/>
            <a:ext cx="8221134" cy="584775"/>
          </a:xfrm>
          <a:prstGeom prst="rect">
            <a:avLst/>
          </a:prstGeom>
          <a:noFill/>
        </p:spPr>
        <p:txBody>
          <a:bodyPr wrap="square">
            <a:spAutoFit/>
          </a:bodyPr>
          <a:lstStyle/>
          <a:p>
            <a:r>
              <a:rPr lang="en-ZA" sz="3200" b="1" dirty="0">
                <a:solidFill>
                  <a:srgbClr val="6D7BF7"/>
                </a:solidFill>
                <a:latin typeface="Avenir Next LT Pro" panose="020B0504020202020204" pitchFamily="34" charset="0"/>
              </a:rPr>
              <a:t>User And Usage Trends Analysis</a:t>
            </a:r>
            <a:endParaRPr lang="en-ZA" sz="3200" dirty="0">
              <a:solidFill>
                <a:schemeClr val="accent4">
                  <a:lumMod val="50000"/>
                </a:schemeClr>
              </a:solidFill>
            </a:endParaRPr>
          </a:p>
        </p:txBody>
      </p:sp>
      <p:sp>
        <p:nvSpPr>
          <p:cNvPr id="3" name="Cloud 2">
            <a:extLst>
              <a:ext uri="{FF2B5EF4-FFF2-40B4-BE49-F238E27FC236}">
                <a16:creationId xmlns:a16="http://schemas.microsoft.com/office/drawing/2014/main" id="{E5279E74-B7F5-F0E2-4346-45754725B857}"/>
              </a:ext>
            </a:extLst>
          </p:cNvPr>
          <p:cNvSpPr/>
          <p:nvPr/>
        </p:nvSpPr>
        <p:spPr>
          <a:xfrm>
            <a:off x="0" y="1254741"/>
            <a:ext cx="4975922" cy="2029528"/>
          </a:xfrm>
          <a:prstGeom prst="cloud">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Engagement peaks on weekends and evenings, </a:t>
            </a:r>
            <a:r>
              <a:rPr lang="en-US" dirty="0">
                <a:solidFill>
                  <a:schemeClr val="bg1"/>
                </a:solidFill>
              </a:rPr>
              <a:t>and declines during early weekdays and morning hours. </a:t>
            </a:r>
            <a:r>
              <a:rPr lang="en-US" dirty="0"/>
              <a:t>with growth observed from January to March.</a:t>
            </a:r>
            <a:endParaRPr lang="en-ZA" dirty="0"/>
          </a:p>
        </p:txBody>
      </p:sp>
    </p:spTree>
    <p:extLst>
      <p:ext uri="{BB962C8B-B14F-4D97-AF65-F5344CB8AC3E}">
        <p14:creationId xmlns:p14="http://schemas.microsoft.com/office/powerpoint/2010/main" val="105580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6EC377-9B94-8D6B-2D60-96D6C574EDF7}"/>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D875714-9A90-5753-2596-CAE936203A9A}"/>
              </a:ext>
            </a:extLst>
          </p:cNvPr>
          <p:cNvSpPr txBox="1"/>
          <p:nvPr/>
        </p:nvSpPr>
        <p:spPr>
          <a:xfrm>
            <a:off x="1985433" y="116236"/>
            <a:ext cx="8221134" cy="584775"/>
          </a:xfrm>
          <a:prstGeom prst="rect">
            <a:avLst/>
          </a:prstGeom>
          <a:noFill/>
        </p:spPr>
        <p:txBody>
          <a:bodyPr wrap="square">
            <a:spAutoFit/>
          </a:bodyPr>
          <a:lstStyle/>
          <a:p>
            <a:r>
              <a:rPr lang="en-ZA" sz="3200" b="1" dirty="0">
                <a:solidFill>
                  <a:srgbClr val="6D7BF7"/>
                </a:solidFill>
                <a:latin typeface="Avenir Next LT Pro" panose="020B0504020202020204" pitchFamily="34" charset="0"/>
              </a:rPr>
              <a:t>Factors Influencing Consumption</a:t>
            </a:r>
            <a:endParaRPr lang="en-ZA" sz="3200" dirty="0">
              <a:solidFill>
                <a:schemeClr val="accent4">
                  <a:lumMod val="50000"/>
                </a:schemeClr>
              </a:solidFill>
            </a:endParaRPr>
          </a:p>
        </p:txBody>
      </p:sp>
      <p:graphicFrame>
        <p:nvGraphicFramePr>
          <p:cNvPr id="3" name="Chart 2">
            <a:extLst>
              <a:ext uri="{FF2B5EF4-FFF2-40B4-BE49-F238E27FC236}">
                <a16:creationId xmlns:a16="http://schemas.microsoft.com/office/drawing/2014/main" id="{98D19C1E-D2E4-A980-A162-4F3EBDA653C6}"/>
              </a:ext>
            </a:extLst>
          </p:cNvPr>
          <p:cNvGraphicFramePr>
            <a:graphicFrameLocks/>
          </p:cNvGraphicFramePr>
          <p:nvPr>
            <p:extLst>
              <p:ext uri="{D42A27DB-BD31-4B8C-83A1-F6EECF244321}">
                <p14:modId xmlns:p14="http://schemas.microsoft.com/office/powerpoint/2010/main" val="3529027779"/>
              </p:ext>
            </p:extLst>
          </p:nvPr>
        </p:nvGraphicFramePr>
        <p:xfrm>
          <a:off x="6502400" y="4109663"/>
          <a:ext cx="5689600" cy="27483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396AB3A6-FD42-3527-3389-9E893D1F538C}"/>
              </a:ext>
            </a:extLst>
          </p:cNvPr>
          <p:cNvGraphicFramePr>
            <a:graphicFrameLocks/>
          </p:cNvGraphicFramePr>
          <p:nvPr>
            <p:extLst>
              <p:ext uri="{D42A27DB-BD31-4B8C-83A1-F6EECF244321}">
                <p14:modId xmlns:p14="http://schemas.microsoft.com/office/powerpoint/2010/main" val="291424005"/>
              </p:ext>
            </p:extLst>
          </p:nvPr>
        </p:nvGraphicFramePr>
        <p:xfrm>
          <a:off x="6095999" y="1778788"/>
          <a:ext cx="6096001" cy="23308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55B6489B-E14E-FBEA-2A9F-545C069CBE1A}"/>
              </a:ext>
            </a:extLst>
          </p:cNvPr>
          <p:cNvGraphicFramePr>
            <a:graphicFrameLocks/>
          </p:cNvGraphicFramePr>
          <p:nvPr>
            <p:extLst>
              <p:ext uri="{D42A27DB-BD31-4B8C-83A1-F6EECF244321}">
                <p14:modId xmlns:p14="http://schemas.microsoft.com/office/powerpoint/2010/main" val="2205145688"/>
              </p:ext>
            </p:extLst>
          </p:nvPr>
        </p:nvGraphicFramePr>
        <p:xfrm>
          <a:off x="0" y="4109663"/>
          <a:ext cx="6502400" cy="2748337"/>
        </p:xfrm>
        <a:graphic>
          <a:graphicData uri="http://schemas.openxmlformats.org/drawingml/2006/chart">
            <c:chart xmlns:c="http://schemas.openxmlformats.org/drawingml/2006/chart" xmlns:r="http://schemas.openxmlformats.org/officeDocument/2006/relationships" r:id="rId5"/>
          </a:graphicData>
        </a:graphic>
      </p:graphicFrame>
      <p:sp>
        <p:nvSpPr>
          <p:cNvPr id="7" name="Teardrop 6">
            <a:extLst>
              <a:ext uri="{FF2B5EF4-FFF2-40B4-BE49-F238E27FC236}">
                <a16:creationId xmlns:a16="http://schemas.microsoft.com/office/drawing/2014/main" id="{61CC164D-0C51-2128-169A-344AA94A01EE}"/>
              </a:ext>
            </a:extLst>
          </p:cNvPr>
          <p:cNvSpPr/>
          <p:nvPr/>
        </p:nvSpPr>
        <p:spPr>
          <a:xfrm>
            <a:off x="133565" y="1089061"/>
            <a:ext cx="5280916" cy="3020601"/>
          </a:xfrm>
          <a:prstGeom prst="teardrop">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Viewing behaviour is strongly influenced by demographic factors. The youth segment represents the most active audience, contributing the highest share of views and viewing minutes. Male users dominate the platform, accounting for the majority of engagement, while Gauteng leads in regional viewership.</a:t>
            </a:r>
            <a:endParaRPr lang="en-ZA"/>
          </a:p>
        </p:txBody>
      </p:sp>
    </p:spTree>
    <p:extLst>
      <p:ext uri="{BB962C8B-B14F-4D97-AF65-F5344CB8AC3E}">
        <p14:creationId xmlns:p14="http://schemas.microsoft.com/office/powerpoint/2010/main" val="4076606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1E052E-BDFB-ED2D-1556-F5BAF36C9BBB}"/>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C930797-5795-3050-2C98-011B6820EF9B}"/>
              </a:ext>
            </a:extLst>
          </p:cNvPr>
          <p:cNvSpPr txBox="1"/>
          <p:nvPr/>
        </p:nvSpPr>
        <p:spPr>
          <a:xfrm>
            <a:off x="0" y="1896738"/>
            <a:ext cx="5689600" cy="338554"/>
          </a:xfrm>
          <a:prstGeom prst="rect">
            <a:avLst/>
          </a:prstGeom>
          <a:noFill/>
        </p:spPr>
        <p:txBody>
          <a:bodyPr wrap="square">
            <a:spAutoFit/>
          </a:bodyPr>
          <a:lstStyle/>
          <a:p>
            <a:r>
              <a:rPr lang="en-US" sz="1600" dirty="0">
                <a:solidFill>
                  <a:srgbClr val="002060"/>
                </a:solidFill>
              </a:rPr>
              <a:t>.</a:t>
            </a:r>
            <a:endParaRPr lang="en-US" sz="1400" dirty="0">
              <a:solidFill>
                <a:srgbClr val="002060"/>
              </a:solidFill>
              <a:effectLst/>
            </a:endParaRPr>
          </a:p>
        </p:txBody>
      </p:sp>
      <p:sp>
        <p:nvSpPr>
          <p:cNvPr id="14" name="TextBox 13">
            <a:extLst>
              <a:ext uri="{FF2B5EF4-FFF2-40B4-BE49-F238E27FC236}">
                <a16:creationId xmlns:a16="http://schemas.microsoft.com/office/drawing/2014/main" id="{8374B896-AE07-F9E4-4FCB-4EB26E71C418}"/>
              </a:ext>
            </a:extLst>
          </p:cNvPr>
          <p:cNvSpPr txBox="1"/>
          <p:nvPr/>
        </p:nvSpPr>
        <p:spPr>
          <a:xfrm>
            <a:off x="1985433" y="116236"/>
            <a:ext cx="8221134" cy="584775"/>
          </a:xfrm>
          <a:prstGeom prst="rect">
            <a:avLst/>
          </a:prstGeom>
          <a:noFill/>
        </p:spPr>
        <p:txBody>
          <a:bodyPr wrap="square">
            <a:spAutoFit/>
          </a:bodyPr>
          <a:lstStyle/>
          <a:p>
            <a:r>
              <a:rPr lang="en-ZA" sz="3200" b="1" dirty="0">
                <a:solidFill>
                  <a:srgbClr val="6D7BF7"/>
                </a:solidFill>
                <a:latin typeface="Avenir Next LT Pro" panose="020B0504020202020204" pitchFamily="34" charset="0"/>
              </a:rPr>
              <a:t>Content to Recommend</a:t>
            </a:r>
            <a:endParaRPr lang="en-ZA" sz="3200" dirty="0">
              <a:solidFill>
                <a:schemeClr val="accent4">
                  <a:lumMod val="50000"/>
                </a:schemeClr>
              </a:solidFill>
            </a:endParaRPr>
          </a:p>
        </p:txBody>
      </p:sp>
      <p:graphicFrame>
        <p:nvGraphicFramePr>
          <p:cNvPr id="2" name="Chart 1">
            <a:extLst>
              <a:ext uri="{FF2B5EF4-FFF2-40B4-BE49-F238E27FC236}">
                <a16:creationId xmlns:a16="http://schemas.microsoft.com/office/drawing/2014/main" id="{A78B511E-6055-13A4-11CE-9E75CE565ED2}"/>
              </a:ext>
            </a:extLst>
          </p:cNvPr>
          <p:cNvGraphicFramePr>
            <a:graphicFrameLocks/>
          </p:cNvGraphicFramePr>
          <p:nvPr>
            <p:extLst>
              <p:ext uri="{D42A27DB-BD31-4B8C-83A1-F6EECF244321}">
                <p14:modId xmlns:p14="http://schemas.microsoft.com/office/powerpoint/2010/main" val="3144697123"/>
              </p:ext>
            </p:extLst>
          </p:nvPr>
        </p:nvGraphicFramePr>
        <p:xfrm>
          <a:off x="4937124" y="1896738"/>
          <a:ext cx="7254876" cy="4948167"/>
        </p:xfrm>
        <a:graphic>
          <a:graphicData uri="http://schemas.openxmlformats.org/drawingml/2006/chart">
            <c:chart xmlns:c="http://schemas.openxmlformats.org/drawingml/2006/chart" xmlns:r="http://schemas.openxmlformats.org/officeDocument/2006/relationships" r:id="rId3"/>
          </a:graphicData>
        </a:graphic>
      </p:graphicFrame>
      <p:sp>
        <p:nvSpPr>
          <p:cNvPr id="4" name="Oval 3">
            <a:extLst>
              <a:ext uri="{FF2B5EF4-FFF2-40B4-BE49-F238E27FC236}">
                <a16:creationId xmlns:a16="http://schemas.microsoft.com/office/drawing/2014/main" id="{E6DA554A-1152-0504-D766-994FB85EE734}"/>
              </a:ext>
            </a:extLst>
          </p:cNvPr>
          <p:cNvSpPr/>
          <p:nvPr/>
        </p:nvSpPr>
        <p:spPr>
          <a:xfrm>
            <a:off x="0" y="2235292"/>
            <a:ext cx="4937124" cy="3600429"/>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The most watched channels are dominated by sports and entertainment content, with Supersport Live Events and ICC Cricket-related content leading in total views. This suggests that live sports events are a key driver of engagement. Recommending similar high-performing content can improve user retention and viewing time.</a:t>
            </a:r>
            <a:endParaRPr lang="en-ZA"/>
          </a:p>
        </p:txBody>
      </p:sp>
    </p:spTree>
    <p:extLst>
      <p:ext uri="{BB962C8B-B14F-4D97-AF65-F5344CB8AC3E}">
        <p14:creationId xmlns:p14="http://schemas.microsoft.com/office/powerpoint/2010/main" val="3755343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106936-5BF1-E2B8-DE89-42D699737FB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BC31164-3055-1F7E-9847-5A1881E65CA8}"/>
              </a:ext>
            </a:extLst>
          </p:cNvPr>
          <p:cNvSpPr txBox="1"/>
          <p:nvPr/>
        </p:nvSpPr>
        <p:spPr>
          <a:xfrm>
            <a:off x="3811337" y="362743"/>
            <a:ext cx="4569326" cy="762837"/>
          </a:xfrm>
          <a:prstGeom prst="rect">
            <a:avLst/>
          </a:prstGeom>
          <a:noFill/>
        </p:spPr>
        <p:txBody>
          <a:bodyPr wrap="square" rtlCol="0">
            <a:normAutofit/>
          </a:bodyPr>
          <a:lstStyle/>
          <a:p>
            <a:r>
              <a:rPr lang="en-ZA" sz="4000" b="1" dirty="0">
                <a:solidFill>
                  <a:srgbClr val="6D7BF7"/>
                </a:solidFill>
                <a:latin typeface="Avenir Next LT Pro" panose="020B0504020202020204" pitchFamily="34" charset="0"/>
              </a:rPr>
              <a:t>Grow User Base</a:t>
            </a:r>
            <a:endParaRPr lang="en-ZA" sz="4000" dirty="0">
              <a:solidFill>
                <a:schemeClr val="accent4">
                  <a:lumMod val="50000"/>
                </a:schemeClr>
              </a:solidFill>
            </a:endParaRPr>
          </a:p>
        </p:txBody>
      </p:sp>
      <p:graphicFrame>
        <p:nvGraphicFramePr>
          <p:cNvPr id="12" name="Chart 11">
            <a:extLst>
              <a:ext uri="{FF2B5EF4-FFF2-40B4-BE49-F238E27FC236}">
                <a16:creationId xmlns:a16="http://schemas.microsoft.com/office/drawing/2014/main" id="{48E180E9-F84D-41F7-96B4-6266D5FCB094}"/>
              </a:ext>
            </a:extLst>
          </p:cNvPr>
          <p:cNvGraphicFramePr>
            <a:graphicFrameLocks/>
          </p:cNvGraphicFramePr>
          <p:nvPr>
            <p:extLst>
              <p:ext uri="{D42A27DB-BD31-4B8C-83A1-F6EECF244321}">
                <p14:modId xmlns:p14="http://schemas.microsoft.com/office/powerpoint/2010/main" val="350936355"/>
              </p:ext>
            </p:extLst>
          </p:nvPr>
        </p:nvGraphicFramePr>
        <p:xfrm>
          <a:off x="5116530" y="1492584"/>
          <a:ext cx="7075470" cy="30214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5F861424-EB89-3DFB-A921-CEED04DBC6D0}"/>
              </a:ext>
            </a:extLst>
          </p:cNvPr>
          <p:cNvGraphicFramePr>
            <a:graphicFrameLocks/>
          </p:cNvGraphicFramePr>
          <p:nvPr>
            <p:extLst>
              <p:ext uri="{D42A27DB-BD31-4B8C-83A1-F6EECF244321}">
                <p14:modId xmlns:p14="http://schemas.microsoft.com/office/powerpoint/2010/main" val="2804272256"/>
              </p:ext>
            </p:extLst>
          </p:nvPr>
        </p:nvGraphicFramePr>
        <p:xfrm>
          <a:off x="5116530" y="4514031"/>
          <a:ext cx="7075472" cy="2330875"/>
        </p:xfrm>
        <a:graphic>
          <a:graphicData uri="http://schemas.openxmlformats.org/drawingml/2006/chart">
            <c:chart xmlns:c="http://schemas.openxmlformats.org/drawingml/2006/chart" xmlns:r="http://schemas.openxmlformats.org/officeDocument/2006/relationships" r:id="rId4"/>
          </a:graphicData>
        </a:graphic>
      </p:graphicFrame>
      <p:sp>
        <p:nvSpPr>
          <p:cNvPr id="3" name="Smiley Face 2">
            <a:extLst>
              <a:ext uri="{FF2B5EF4-FFF2-40B4-BE49-F238E27FC236}">
                <a16:creationId xmlns:a16="http://schemas.microsoft.com/office/drawing/2014/main" id="{D39F577C-6EAD-1DDB-FBCC-CC0EEFCDBDFA}"/>
              </a:ext>
            </a:extLst>
          </p:cNvPr>
          <p:cNvSpPr/>
          <p:nvPr/>
        </p:nvSpPr>
        <p:spPr>
          <a:xfrm>
            <a:off x="0" y="1880171"/>
            <a:ext cx="5116528" cy="4232953"/>
          </a:xfrm>
          <a:prstGeom prst="smileyFace">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User growth opportunities are concentrated in underperforming provinces and less active age groups. While Gauteng and youth users dominate engagement, other provinces and older demographics show lower participation. Expanding targeted marketing campaigns and diversifying content offerings can help attract and retain a broader audience.</a:t>
            </a:r>
            <a:endParaRPr lang="en-ZA" b="1" dirty="0"/>
          </a:p>
        </p:txBody>
      </p:sp>
    </p:spTree>
    <p:extLst>
      <p:ext uri="{BB962C8B-B14F-4D97-AF65-F5344CB8AC3E}">
        <p14:creationId xmlns:p14="http://schemas.microsoft.com/office/powerpoint/2010/main" val="1155441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Unrecognisable male going to touch the snooze button on his mobile phone. The alarm is waking him up in the morning.">
            <a:extLst>
              <a:ext uri="{FF2B5EF4-FFF2-40B4-BE49-F238E27FC236}">
                <a16:creationId xmlns:a16="http://schemas.microsoft.com/office/drawing/2014/main" id="{8D4F9637-6813-4D41-B2F0-5171AD158F97}"/>
              </a:ext>
            </a:extLst>
          </p:cNvPr>
          <p:cNvPicPr>
            <a:picLocks noChangeAspect="1"/>
          </p:cNvPicPr>
          <p:nvPr/>
        </p:nvPicPr>
        <p:blipFill>
          <a:blip r:embed="rId3"/>
          <a:stretch>
            <a:fillRect/>
          </a:stretch>
        </p:blipFill>
        <p:spPr>
          <a:xfrm>
            <a:off x="5334000" y="0"/>
            <a:ext cx="6858000" cy="6858000"/>
          </a:xfrm>
          <a:prstGeom prst="rect">
            <a:avLst/>
          </a:prstGeom>
        </p:spPr>
      </p:pic>
      <p:sp>
        <p:nvSpPr>
          <p:cNvPr id="6" name="TextBox 5">
            <a:extLst>
              <a:ext uri="{FF2B5EF4-FFF2-40B4-BE49-F238E27FC236}">
                <a16:creationId xmlns:a16="http://schemas.microsoft.com/office/drawing/2014/main" id="{0F3DFAF7-3635-4B70-A2A8-54F2A2645F2B}"/>
              </a:ext>
            </a:extLst>
          </p:cNvPr>
          <p:cNvSpPr txBox="1"/>
          <p:nvPr/>
        </p:nvSpPr>
        <p:spPr>
          <a:xfrm>
            <a:off x="1337732" y="39548"/>
            <a:ext cx="3996267" cy="1758429"/>
          </a:xfrm>
          <a:prstGeom prst="rect">
            <a:avLst/>
          </a:prstGeom>
          <a:noFill/>
        </p:spPr>
        <p:txBody>
          <a:bodyPr wrap="square" rtlCol="0">
            <a:normAutofit fontScale="92500" lnSpcReduction="20000"/>
          </a:bodyPr>
          <a:lstStyle/>
          <a:p>
            <a:pPr marL="0" algn="l">
              <a:buNone/>
            </a:pPr>
            <a:r>
              <a:rPr sz="4500" dirty="0">
                <a:solidFill>
                  <a:srgbClr val="6D7BF7"/>
                </a:solidFill>
                <a:effectLst/>
                <a:latin typeface="Avenir Next LT Pro Bold" panose="020B0804020202020204" pitchFamily="34" charset="0"/>
              </a:rPr>
              <a:t>USER VIEWING PATTERNS</a:t>
            </a:r>
            <a:r>
              <a:rPr dirty="0">
                <a:effectLst/>
              </a:rPr>
              <a:t> </a:t>
            </a:r>
            <a:endParaRPr lang="en-ZA" dirty="0"/>
          </a:p>
        </p:txBody>
      </p:sp>
      <p:graphicFrame>
        <p:nvGraphicFramePr>
          <p:cNvPr id="3" name="Table 2">
            <a:extLst>
              <a:ext uri="{FF2B5EF4-FFF2-40B4-BE49-F238E27FC236}">
                <a16:creationId xmlns:a16="http://schemas.microsoft.com/office/drawing/2014/main" id="{E8EEEA93-18B6-C8B3-6FAD-A7353028A279}"/>
              </a:ext>
            </a:extLst>
          </p:cNvPr>
          <p:cNvGraphicFramePr>
            <a:graphicFrameLocks noGrp="1"/>
          </p:cNvGraphicFramePr>
          <p:nvPr>
            <p:extLst>
              <p:ext uri="{D42A27DB-BD31-4B8C-83A1-F6EECF244321}">
                <p14:modId xmlns:p14="http://schemas.microsoft.com/office/powerpoint/2010/main" val="1874611378"/>
              </p:ext>
            </p:extLst>
          </p:nvPr>
        </p:nvGraphicFramePr>
        <p:xfrm>
          <a:off x="5334001" y="-1"/>
          <a:ext cx="1735666" cy="1445259"/>
        </p:xfrm>
        <a:graphic>
          <a:graphicData uri="http://schemas.openxmlformats.org/drawingml/2006/table">
            <a:tbl>
              <a:tblPr>
                <a:tableStyleId>{5C22544A-7EE6-4342-B048-85BDC9FD1C3A}</a:tableStyleId>
              </a:tblPr>
              <a:tblGrid>
                <a:gridCol w="1735666">
                  <a:extLst>
                    <a:ext uri="{9D8B030D-6E8A-4147-A177-3AD203B41FA5}">
                      <a16:colId xmlns:a16="http://schemas.microsoft.com/office/drawing/2014/main" val="3871617067"/>
                    </a:ext>
                  </a:extLst>
                </a:gridCol>
              </a:tblGrid>
              <a:tr h="579430">
                <a:tc>
                  <a:txBody>
                    <a:bodyPr/>
                    <a:lstStyle/>
                    <a:p>
                      <a:pPr algn="l" fontAlgn="b">
                        <a:buNone/>
                      </a:pPr>
                      <a:r>
                        <a:rPr lang="en-ZA" sz="2800" u="none" strike="noStrike" dirty="0">
                          <a:effectLst/>
                        </a:rPr>
                        <a:t>Total view</a:t>
                      </a:r>
                      <a:endParaRPr lang="en-ZA" sz="28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83947633"/>
                  </a:ext>
                </a:extLst>
              </a:tr>
              <a:tr h="865829">
                <a:tc>
                  <a:txBody>
                    <a:bodyPr/>
                    <a:lstStyle/>
                    <a:p>
                      <a:pPr algn="r" fontAlgn="b">
                        <a:buNone/>
                      </a:pPr>
                      <a:r>
                        <a:rPr lang="en-ZA" sz="5400" u="none" strike="noStrike" dirty="0">
                          <a:effectLst/>
                        </a:rPr>
                        <a:t>10000</a:t>
                      </a:r>
                      <a:endParaRPr lang="en-ZA" sz="5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29556519"/>
                  </a:ext>
                </a:extLst>
              </a:tr>
            </a:tbl>
          </a:graphicData>
        </a:graphic>
      </p:graphicFrame>
      <p:graphicFrame>
        <p:nvGraphicFramePr>
          <p:cNvPr id="4" name="Table 3">
            <a:extLst>
              <a:ext uri="{FF2B5EF4-FFF2-40B4-BE49-F238E27FC236}">
                <a16:creationId xmlns:a16="http://schemas.microsoft.com/office/drawing/2014/main" id="{162A5FC2-5949-C302-6200-3B8693E6A43A}"/>
              </a:ext>
            </a:extLst>
          </p:cNvPr>
          <p:cNvGraphicFramePr>
            <a:graphicFrameLocks noGrp="1"/>
          </p:cNvGraphicFramePr>
          <p:nvPr>
            <p:extLst>
              <p:ext uri="{D42A27DB-BD31-4B8C-83A1-F6EECF244321}">
                <p14:modId xmlns:p14="http://schemas.microsoft.com/office/powerpoint/2010/main" val="543386395"/>
              </p:ext>
            </p:extLst>
          </p:nvPr>
        </p:nvGraphicFramePr>
        <p:xfrm>
          <a:off x="7069667" y="-4"/>
          <a:ext cx="3141133" cy="1445260"/>
        </p:xfrm>
        <a:graphic>
          <a:graphicData uri="http://schemas.openxmlformats.org/drawingml/2006/table">
            <a:tbl>
              <a:tblPr>
                <a:tableStyleId>{5C22544A-7EE6-4342-B048-85BDC9FD1C3A}</a:tableStyleId>
              </a:tblPr>
              <a:tblGrid>
                <a:gridCol w="3141133">
                  <a:extLst>
                    <a:ext uri="{9D8B030D-6E8A-4147-A177-3AD203B41FA5}">
                      <a16:colId xmlns:a16="http://schemas.microsoft.com/office/drawing/2014/main" val="2255508335"/>
                    </a:ext>
                  </a:extLst>
                </a:gridCol>
              </a:tblGrid>
              <a:tr h="592928">
                <a:tc>
                  <a:txBody>
                    <a:bodyPr/>
                    <a:lstStyle/>
                    <a:p>
                      <a:pPr algn="l" fontAlgn="b">
                        <a:buNone/>
                      </a:pPr>
                      <a:r>
                        <a:rPr lang="en-ZA" sz="2800" u="none" strike="noStrike" dirty="0">
                          <a:effectLst/>
                        </a:rPr>
                        <a:t>Total Viewing Minutes</a:t>
                      </a:r>
                      <a:endParaRPr lang="en-ZA" sz="28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55570147"/>
                  </a:ext>
                </a:extLst>
              </a:tr>
              <a:tr h="852332">
                <a:tc>
                  <a:txBody>
                    <a:bodyPr/>
                    <a:lstStyle/>
                    <a:p>
                      <a:pPr algn="r" fontAlgn="b">
                        <a:buNone/>
                      </a:pPr>
                      <a:r>
                        <a:rPr lang="en-ZA" sz="5400" u="none" strike="noStrike" dirty="0">
                          <a:effectLst/>
                        </a:rPr>
                        <a:t>87207</a:t>
                      </a:r>
                      <a:endParaRPr lang="en-ZA" sz="5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98952864"/>
                  </a:ext>
                </a:extLst>
              </a:tr>
            </a:tbl>
          </a:graphicData>
        </a:graphic>
      </p:graphicFrame>
      <p:graphicFrame>
        <p:nvGraphicFramePr>
          <p:cNvPr id="2" name="Chart 1">
            <a:extLst>
              <a:ext uri="{FF2B5EF4-FFF2-40B4-BE49-F238E27FC236}">
                <a16:creationId xmlns:a16="http://schemas.microsoft.com/office/drawing/2014/main" id="{B536DB5B-D0FA-4046-8B15-90E69BD62ED2}"/>
              </a:ext>
            </a:extLst>
          </p:cNvPr>
          <p:cNvGraphicFramePr>
            <a:graphicFrameLocks/>
          </p:cNvGraphicFramePr>
          <p:nvPr>
            <p:extLst>
              <p:ext uri="{D42A27DB-BD31-4B8C-83A1-F6EECF244321}">
                <p14:modId xmlns:p14="http://schemas.microsoft.com/office/powerpoint/2010/main" val="1158581616"/>
              </p:ext>
            </p:extLst>
          </p:nvPr>
        </p:nvGraphicFramePr>
        <p:xfrm>
          <a:off x="8640233" y="1445256"/>
          <a:ext cx="3535893" cy="308186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Table 8">
            <a:extLst>
              <a:ext uri="{FF2B5EF4-FFF2-40B4-BE49-F238E27FC236}">
                <a16:creationId xmlns:a16="http://schemas.microsoft.com/office/drawing/2014/main" id="{3A47FAAD-AF8E-1929-42D1-F6B715D82C3B}"/>
              </a:ext>
            </a:extLst>
          </p:cNvPr>
          <p:cNvGraphicFramePr>
            <a:graphicFrameLocks noGrp="1"/>
          </p:cNvGraphicFramePr>
          <p:nvPr>
            <p:extLst>
              <p:ext uri="{D42A27DB-BD31-4B8C-83A1-F6EECF244321}">
                <p14:modId xmlns:p14="http://schemas.microsoft.com/office/powerpoint/2010/main" val="1321532641"/>
              </p:ext>
            </p:extLst>
          </p:nvPr>
        </p:nvGraphicFramePr>
        <p:xfrm>
          <a:off x="10210801" y="-4"/>
          <a:ext cx="1981199" cy="1445260"/>
        </p:xfrm>
        <a:graphic>
          <a:graphicData uri="http://schemas.openxmlformats.org/drawingml/2006/table">
            <a:tbl>
              <a:tblPr>
                <a:tableStyleId>{5C22544A-7EE6-4342-B048-85BDC9FD1C3A}</a:tableStyleId>
              </a:tblPr>
              <a:tblGrid>
                <a:gridCol w="1981199">
                  <a:extLst>
                    <a:ext uri="{9D8B030D-6E8A-4147-A177-3AD203B41FA5}">
                      <a16:colId xmlns:a16="http://schemas.microsoft.com/office/drawing/2014/main" val="3495603399"/>
                    </a:ext>
                  </a:extLst>
                </a:gridCol>
              </a:tblGrid>
              <a:tr h="547988">
                <a:tc>
                  <a:txBody>
                    <a:bodyPr/>
                    <a:lstStyle/>
                    <a:p>
                      <a:pPr algn="l" fontAlgn="b">
                        <a:buNone/>
                      </a:pPr>
                      <a:r>
                        <a:rPr lang="en-ZA" sz="2800" u="none" strike="noStrike" dirty="0">
                          <a:effectLst/>
                        </a:rPr>
                        <a:t>Total Users</a:t>
                      </a:r>
                      <a:endParaRPr lang="en-ZA" sz="28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64644740"/>
                  </a:ext>
                </a:extLst>
              </a:tr>
              <a:tr h="897272">
                <a:tc>
                  <a:txBody>
                    <a:bodyPr/>
                    <a:lstStyle/>
                    <a:p>
                      <a:pPr algn="r" fontAlgn="b">
                        <a:buNone/>
                      </a:pPr>
                      <a:r>
                        <a:rPr lang="en-ZA" sz="5400" u="none" strike="noStrike" dirty="0">
                          <a:effectLst/>
                        </a:rPr>
                        <a:t>4386</a:t>
                      </a:r>
                      <a:endParaRPr lang="en-ZA" sz="5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35640893"/>
                  </a:ext>
                </a:extLst>
              </a:tr>
            </a:tbl>
          </a:graphicData>
        </a:graphic>
      </p:graphicFrame>
      <p:sp>
        <p:nvSpPr>
          <p:cNvPr id="13" name="TextBox 12">
            <a:extLst>
              <a:ext uri="{FF2B5EF4-FFF2-40B4-BE49-F238E27FC236}">
                <a16:creationId xmlns:a16="http://schemas.microsoft.com/office/drawing/2014/main" id="{46552F4A-AC00-25C7-8161-009BB2995DF2}"/>
              </a:ext>
            </a:extLst>
          </p:cNvPr>
          <p:cNvSpPr txBox="1"/>
          <p:nvPr/>
        </p:nvSpPr>
        <p:spPr>
          <a:xfrm>
            <a:off x="-15873" y="2032736"/>
            <a:ext cx="5333999" cy="3724096"/>
          </a:xfrm>
          <a:prstGeom prst="rect">
            <a:avLst/>
          </a:prstGeom>
          <a:noFill/>
        </p:spPr>
        <p:txBody>
          <a:bodyPr wrap="square">
            <a:spAutoFit/>
          </a:bodyPr>
          <a:lstStyle/>
          <a:p>
            <a:r>
              <a:rPr lang="en-US" sz="1800" b="1" dirty="0">
                <a:latin typeface="Aptos" panose="020B0004020202020204" pitchFamily="34" charset="0"/>
              </a:rPr>
              <a:t>👥 Total Users &amp; Engagement</a:t>
            </a:r>
          </a:p>
          <a:p>
            <a:r>
              <a:rPr lang="en-US" sz="1800" dirty="0">
                <a:latin typeface="Aptos" panose="020B0004020202020204" pitchFamily="34" charset="0"/>
              </a:rPr>
              <a:t>A total 4386 users with10,000 views generated over 87,000 viewing minutes, demonstrating high platform usage and consistent user engagement across the dataset.</a:t>
            </a:r>
          </a:p>
          <a:p>
            <a:endParaRPr lang="en-ZA" sz="1000" b="1" dirty="0">
              <a:effectLst/>
              <a:latin typeface="Avenir Next LT Pro Bold" panose="020B0804020202020204" pitchFamily="34" charset="0"/>
            </a:endParaRPr>
          </a:p>
          <a:p>
            <a:endParaRPr lang="en-US" sz="1000" b="1" dirty="0"/>
          </a:p>
          <a:p>
            <a:r>
              <a:rPr lang="en-US" sz="1800" b="1" dirty="0">
                <a:latin typeface="Aptos" panose="020B0004020202020204" pitchFamily="34" charset="0"/>
              </a:rPr>
              <a:t>🌍 Race Insights</a:t>
            </a:r>
          </a:p>
          <a:p>
            <a:r>
              <a:rPr lang="en-US" sz="1800" dirty="0">
                <a:latin typeface="Aptos" panose="020B0004020202020204" pitchFamily="34" charset="0"/>
              </a:rPr>
              <a:t>The majority of viewership is driven by the Black audience segment, which contributes the highest number of views and total viewing minutes. Other race groups such as </a:t>
            </a:r>
            <a:r>
              <a:rPr lang="en-US" sz="1800" dirty="0" err="1">
                <a:latin typeface="Aptos" panose="020B0004020202020204" pitchFamily="34" charset="0"/>
              </a:rPr>
              <a:t>Coloured</a:t>
            </a:r>
            <a:r>
              <a:rPr lang="en-US" sz="1800" dirty="0">
                <a:latin typeface="Aptos" panose="020B0004020202020204" pitchFamily="34" charset="0"/>
              </a:rPr>
              <a:t>, Indian/Asian, and White also contribute meaningfully, indicating a diverse user base.</a:t>
            </a:r>
          </a:p>
        </p:txBody>
      </p:sp>
    </p:spTree>
    <p:extLst>
      <p:ext uri="{BB962C8B-B14F-4D97-AF65-F5344CB8AC3E}">
        <p14:creationId xmlns:p14="http://schemas.microsoft.com/office/powerpoint/2010/main" val="593379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47A621-924C-4FA7-8632-32EBDB597D55}"/>
              </a:ext>
            </a:extLst>
          </p:cNvPr>
          <p:cNvSpPr txBox="1"/>
          <p:nvPr/>
        </p:nvSpPr>
        <p:spPr>
          <a:xfrm>
            <a:off x="2421467" y="619125"/>
            <a:ext cx="9151408" cy="600075"/>
          </a:xfrm>
          <a:prstGeom prst="rect">
            <a:avLst/>
          </a:prstGeom>
          <a:noFill/>
        </p:spPr>
        <p:txBody>
          <a:bodyPr wrap="square" rtlCol="0">
            <a:normAutofit fontScale="85000" lnSpcReduction="20000"/>
          </a:bodyPr>
          <a:lstStyle/>
          <a:p>
            <a:pPr marL="0" marR="0" algn="l">
              <a:buNone/>
            </a:pPr>
            <a:r>
              <a:rPr sz="4500" b="1" dirty="0">
                <a:solidFill>
                  <a:srgbClr val="6D7BF7"/>
                </a:solidFill>
                <a:effectLst/>
                <a:latin typeface="Avenir Next LT Pro Bold" panose="020B0804020202020204" pitchFamily="34" charset="0"/>
              </a:rPr>
              <a:t>RECOMMENDATIONS </a:t>
            </a:r>
            <a:endParaRPr lang="en-ZA" dirty="0"/>
          </a:p>
        </p:txBody>
      </p:sp>
      <p:sp>
        <p:nvSpPr>
          <p:cNvPr id="6" name="TextBox 5">
            <a:extLst>
              <a:ext uri="{FF2B5EF4-FFF2-40B4-BE49-F238E27FC236}">
                <a16:creationId xmlns:a16="http://schemas.microsoft.com/office/drawing/2014/main" id="{6322C5A1-8156-41AF-8AC6-5C9F00F27402}"/>
              </a:ext>
            </a:extLst>
          </p:cNvPr>
          <p:cNvSpPr txBox="1"/>
          <p:nvPr/>
        </p:nvSpPr>
        <p:spPr>
          <a:xfrm>
            <a:off x="1515533" y="1219200"/>
            <a:ext cx="10057342" cy="489495"/>
          </a:xfrm>
          <a:prstGeom prst="rect">
            <a:avLst/>
          </a:prstGeom>
          <a:noFill/>
        </p:spPr>
        <p:txBody>
          <a:bodyPr wrap="square" rtlCol="0">
            <a:normAutofit lnSpcReduction="10000"/>
          </a:bodyPr>
          <a:lstStyle/>
          <a:p>
            <a:pPr marL="0" marR="0" algn="l">
              <a:spcBef>
                <a:spcPts val="750"/>
              </a:spcBef>
              <a:buNone/>
            </a:pPr>
            <a:r>
              <a:rPr sz="2700" b="1" dirty="0">
                <a:solidFill>
                  <a:srgbClr val="002060"/>
                </a:solidFill>
                <a:effectLst/>
                <a:latin typeface="Avenir Next LT Pro Bold" panose="020B0804020202020204" pitchFamily="34" charset="0"/>
              </a:rPr>
              <a:t>Increase engagement and subscriptions </a:t>
            </a:r>
            <a:endParaRPr lang="en-ZA" dirty="0">
              <a:solidFill>
                <a:srgbClr val="002060"/>
              </a:solidFill>
            </a:endParaRPr>
          </a:p>
        </p:txBody>
      </p:sp>
      <p:sp>
        <p:nvSpPr>
          <p:cNvPr id="2" name="Heart 1">
            <a:extLst>
              <a:ext uri="{FF2B5EF4-FFF2-40B4-BE49-F238E27FC236}">
                <a16:creationId xmlns:a16="http://schemas.microsoft.com/office/drawing/2014/main" id="{B9145D6C-4B2B-22E5-98F7-515244B94CF4}"/>
              </a:ext>
            </a:extLst>
          </p:cNvPr>
          <p:cNvSpPr/>
          <p:nvPr/>
        </p:nvSpPr>
        <p:spPr>
          <a:xfrm>
            <a:off x="4489805" y="2308770"/>
            <a:ext cx="3595956" cy="3023518"/>
          </a:xfrm>
          <a:prstGeom prst="hear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3300"/>
              </a:spcBef>
            </a:pPr>
            <a:r>
              <a:rPr lang="en-ZA" dirty="0">
                <a:solidFill>
                  <a:srgbClr val="002060"/>
                </a:solidFill>
                <a:latin typeface="Avenir Next LT Pro Regular"/>
              </a:rPr>
              <a:t>Address gender imbalance by increasing content appealing to female users.</a:t>
            </a:r>
          </a:p>
        </p:txBody>
      </p:sp>
      <p:sp>
        <p:nvSpPr>
          <p:cNvPr id="3" name="Cloud 2">
            <a:extLst>
              <a:ext uri="{FF2B5EF4-FFF2-40B4-BE49-F238E27FC236}">
                <a16:creationId xmlns:a16="http://schemas.microsoft.com/office/drawing/2014/main" id="{6C746E97-2E29-9687-2FE6-2DF15D05ECEB}"/>
              </a:ext>
            </a:extLst>
          </p:cNvPr>
          <p:cNvSpPr/>
          <p:nvPr/>
        </p:nvSpPr>
        <p:spPr>
          <a:xfrm>
            <a:off x="287676" y="4512817"/>
            <a:ext cx="4037744" cy="1726058"/>
          </a:xfrm>
          <a:prstGeom prst="cloud">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Avenir Next LT Pro Regular"/>
              </a:rPr>
              <a:t>Run marketing campaigns targeting inactive users</a:t>
            </a:r>
            <a:endParaRPr lang="en-ZA" dirty="0"/>
          </a:p>
        </p:txBody>
      </p:sp>
      <p:sp>
        <p:nvSpPr>
          <p:cNvPr id="4" name="Teardrop 3">
            <a:extLst>
              <a:ext uri="{FF2B5EF4-FFF2-40B4-BE49-F238E27FC236}">
                <a16:creationId xmlns:a16="http://schemas.microsoft.com/office/drawing/2014/main" id="{0D2A05E5-A69B-51B9-5327-D2008085CE8C}"/>
              </a:ext>
            </a:extLst>
          </p:cNvPr>
          <p:cNvSpPr/>
          <p:nvPr/>
        </p:nvSpPr>
        <p:spPr>
          <a:xfrm>
            <a:off x="8766532" y="4512817"/>
            <a:ext cx="3137792" cy="1943083"/>
          </a:xfrm>
          <a:prstGeom prst="teardrop">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Avenir Next LT Pro Regular"/>
              </a:rPr>
              <a:t>Offer promotions during low-viewing periods; introduce loyalty or subscription incentives.</a:t>
            </a:r>
            <a:endParaRPr lang="en-ZA" dirty="0"/>
          </a:p>
        </p:txBody>
      </p:sp>
      <p:sp>
        <p:nvSpPr>
          <p:cNvPr id="8" name="Cloud 7">
            <a:extLst>
              <a:ext uri="{FF2B5EF4-FFF2-40B4-BE49-F238E27FC236}">
                <a16:creationId xmlns:a16="http://schemas.microsoft.com/office/drawing/2014/main" id="{5FC262FA-01AB-FE5F-555B-C18456C2DFFA}"/>
              </a:ext>
            </a:extLst>
          </p:cNvPr>
          <p:cNvSpPr/>
          <p:nvPr/>
        </p:nvSpPr>
        <p:spPr>
          <a:xfrm>
            <a:off x="287676" y="1925719"/>
            <a:ext cx="3698698" cy="2308536"/>
          </a:xfrm>
          <a:prstGeom prst="cloud">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solidFill>
                  <a:srgbClr val="002060"/>
                </a:solidFill>
                <a:latin typeface="Avenir Next LT Pro Regular"/>
              </a:rPr>
              <a:t>Promote high-performing content categories; implement personalized content recommendations.</a:t>
            </a:r>
            <a:endParaRPr lang="en-ZA" dirty="0"/>
          </a:p>
        </p:txBody>
      </p:sp>
      <p:sp>
        <p:nvSpPr>
          <p:cNvPr id="9" name="Teardrop 8">
            <a:extLst>
              <a:ext uri="{FF2B5EF4-FFF2-40B4-BE49-F238E27FC236}">
                <a16:creationId xmlns:a16="http://schemas.microsoft.com/office/drawing/2014/main" id="{8D120615-AD07-67A5-BBA1-7E58D5499AA1}"/>
              </a:ext>
            </a:extLst>
          </p:cNvPr>
          <p:cNvSpPr/>
          <p:nvPr/>
        </p:nvSpPr>
        <p:spPr>
          <a:xfrm>
            <a:off x="8766532" y="1925719"/>
            <a:ext cx="3137792" cy="2219218"/>
          </a:xfrm>
          <a:prstGeom prst="teardrop">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Avenir Next LT Pro Regular"/>
              </a:rPr>
              <a:t>Release new content on low-consumption days; optimize scheduling to peak viewing times.</a:t>
            </a:r>
            <a:endParaRPr lang="en-ZA" dirty="0"/>
          </a:p>
        </p:txBody>
      </p:sp>
    </p:spTree>
    <p:extLst>
      <p:ext uri="{BB962C8B-B14F-4D97-AF65-F5344CB8AC3E}">
        <p14:creationId xmlns:p14="http://schemas.microsoft.com/office/powerpoint/2010/main" val="583992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FE0BABD-105F-4258-B5BA-2D12E3C02D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7901" y="2024063"/>
            <a:ext cx="857250" cy="857250"/>
          </a:xfrm>
          <a:prstGeom prst="rect">
            <a:avLst/>
          </a:prstGeom>
        </p:spPr>
      </p:pic>
      <p:pic>
        <p:nvPicPr>
          <p:cNvPr id="7" name="Graphic 6">
            <a:extLst>
              <a:ext uri="{FF2B5EF4-FFF2-40B4-BE49-F238E27FC236}">
                <a16:creationId xmlns:a16="http://schemas.microsoft.com/office/drawing/2014/main" id="{CD36DEF0-0B3C-40EB-90C2-4DD0F23A80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8750" y="2024063"/>
            <a:ext cx="857250" cy="857250"/>
          </a:xfrm>
          <a:prstGeom prst="rect">
            <a:avLst/>
          </a:prstGeom>
        </p:spPr>
      </p:pic>
      <p:pic>
        <p:nvPicPr>
          <p:cNvPr id="8" name="Graphic 7">
            <a:extLst>
              <a:ext uri="{FF2B5EF4-FFF2-40B4-BE49-F238E27FC236}">
                <a16:creationId xmlns:a16="http://schemas.microsoft.com/office/drawing/2014/main" id="{45B5B46E-570D-4F76-94B9-48FA7F7E72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78074" y="2024063"/>
            <a:ext cx="857250" cy="857250"/>
          </a:xfrm>
          <a:prstGeom prst="rect">
            <a:avLst/>
          </a:prstGeom>
        </p:spPr>
      </p:pic>
      <p:sp>
        <p:nvSpPr>
          <p:cNvPr id="9" name="TextBox 8">
            <a:extLst>
              <a:ext uri="{FF2B5EF4-FFF2-40B4-BE49-F238E27FC236}">
                <a16:creationId xmlns:a16="http://schemas.microsoft.com/office/drawing/2014/main" id="{27FCA858-2772-4433-9F43-CD0499B9AA97}"/>
              </a:ext>
            </a:extLst>
          </p:cNvPr>
          <p:cNvSpPr txBox="1"/>
          <p:nvPr/>
        </p:nvSpPr>
        <p:spPr>
          <a:xfrm>
            <a:off x="1557867" y="1019175"/>
            <a:ext cx="10129308" cy="628650"/>
          </a:xfrm>
          <a:prstGeom prst="rect">
            <a:avLst/>
          </a:prstGeom>
          <a:noFill/>
        </p:spPr>
        <p:txBody>
          <a:bodyPr wrap="square" rtlCol="0">
            <a:normAutofit fontScale="92500" lnSpcReduction="20000"/>
          </a:bodyPr>
          <a:lstStyle/>
          <a:p>
            <a:pPr marL="0" algn="l">
              <a:spcBef>
                <a:spcPts val="450"/>
              </a:spcBef>
              <a:buNone/>
            </a:pPr>
            <a:r>
              <a:rPr sz="4500" dirty="0">
                <a:solidFill>
                  <a:srgbClr val="6D7BF7"/>
                </a:solidFill>
                <a:effectLst/>
                <a:latin typeface="Avenir Next LT Pro Bold" panose="020B0804020202020204" pitchFamily="34" charset="0"/>
              </a:rPr>
              <a:t>CONCLUSION: BRIGHTTV SUCCESS </a:t>
            </a:r>
            <a:endParaRPr lang="en-ZA" dirty="0"/>
          </a:p>
        </p:txBody>
      </p:sp>
      <p:sp>
        <p:nvSpPr>
          <p:cNvPr id="10" name="TextBox 9">
            <a:extLst>
              <a:ext uri="{FF2B5EF4-FFF2-40B4-BE49-F238E27FC236}">
                <a16:creationId xmlns:a16="http://schemas.microsoft.com/office/drawing/2014/main" id="{4BA7AB56-8688-44EB-881F-856E6C470786}"/>
              </a:ext>
            </a:extLst>
          </p:cNvPr>
          <p:cNvSpPr txBox="1"/>
          <p:nvPr/>
        </p:nvSpPr>
        <p:spPr>
          <a:xfrm>
            <a:off x="585355" y="3073500"/>
            <a:ext cx="3167495" cy="1247344"/>
          </a:xfrm>
          <a:prstGeom prst="rect">
            <a:avLst/>
          </a:prstGeom>
          <a:noFill/>
        </p:spPr>
        <p:txBody>
          <a:bodyPr wrap="square" rtlCol="0">
            <a:normAutofit/>
          </a:bodyPr>
          <a:lstStyle/>
          <a:p>
            <a:pPr marL="0" algn="l">
              <a:spcBef>
                <a:spcPts val="1350"/>
              </a:spcBef>
              <a:buNone/>
            </a:pPr>
            <a:r>
              <a:rPr sz="1800" b="1" dirty="0">
                <a:solidFill>
                  <a:srgbClr val="002060"/>
                </a:solidFill>
                <a:effectLst/>
                <a:latin typeface="Avenir Next LT Pro Bold" panose="020B0804020202020204" pitchFamily="34" charset="0"/>
              </a:rPr>
              <a:t>Business Impact </a:t>
            </a:r>
            <a:endParaRPr dirty="0">
              <a:solidFill>
                <a:srgbClr val="002060"/>
              </a:solidFill>
              <a:effectLst/>
            </a:endParaRPr>
          </a:p>
          <a:p>
            <a:pPr>
              <a:spcBef>
                <a:spcPts val="1050"/>
              </a:spcBef>
            </a:pPr>
            <a:r>
              <a:rPr lang="en-US" sz="1400" dirty="0">
                <a:solidFill>
                  <a:srgbClr val="002060"/>
                </a:solidFill>
              </a:rPr>
              <a:t>Insights from the analysis can help </a:t>
            </a:r>
            <a:r>
              <a:rPr lang="en-US" sz="1400" dirty="0" err="1">
                <a:solidFill>
                  <a:srgbClr val="002060"/>
                </a:solidFill>
              </a:rPr>
              <a:t>BrightTV</a:t>
            </a:r>
            <a:r>
              <a:rPr lang="en-US" sz="1400" dirty="0">
                <a:solidFill>
                  <a:srgbClr val="002060"/>
                </a:solidFill>
              </a:rPr>
              <a:t> improve engagement, content strategy, and subscription growth.</a:t>
            </a:r>
            <a:endParaRPr lang="en-ZA" sz="1400" dirty="0">
              <a:solidFill>
                <a:srgbClr val="002060"/>
              </a:solidFill>
            </a:endParaRPr>
          </a:p>
        </p:txBody>
      </p:sp>
      <p:sp>
        <p:nvSpPr>
          <p:cNvPr id="12" name="TextBox 11">
            <a:extLst>
              <a:ext uri="{FF2B5EF4-FFF2-40B4-BE49-F238E27FC236}">
                <a16:creationId xmlns:a16="http://schemas.microsoft.com/office/drawing/2014/main" id="{AC8BA60B-D9C0-489F-98C2-1B692AC39F81}"/>
              </a:ext>
            </a:extLst>
          </p:cNvPr>
          <p:cNvSpPr txBox="1"/>
          <p:nvPr/>
        </p:nvSpPr>
        <p:spPr>
          <a:xfrm>
            <a:off x="4477664" y="3073500"/>
            <a:ext cx="3424844" cy="1247344"/>
          </a:xfrm>
          <a:prstGeom prst="rect">
            <a:avLst/>
          </a:prstGeom>
          <a:noFill/>
        </p:spPr>
        <p:txBody>
          <a:bodyPr wrap="square" rtlCol="0">
            <a:normAutofit/>
          </a:bodyPr>
          <a:lstStyle/>
          <a:p>
            <a:pPr marL="0" algn="l">
              <a:spcBef>
                <a:spcPts val="1350"/>
              </a:spcBef>
              <a:buNone/>
            </a:pPr>
            <a:r>
              <a:rPr sz="1800" b="1" dirty="0">
                <a:solidFill>
                  <a:srgbClr val="002060"/>
                </a:solidFill>
                <a:effectLst/>
                <a:latin typeface="Avenir Next LT Pro Bold" panose="020B0804020202020204" pitchFamily="34" charset="0"/>
              </a:rPr>
              <a:t>Viewer Patterns </a:t>
            </a:r>
            <a:endParaRPr dirty="0">
              <a:solidFill>
                <a:srgbClr val="002060"/>
              </a:solidFill>
              <a:effectLst/>
            </a:endParaRPr>
          </a:p>
          <a:p>
            <a:pPr>
              <a:spcBef>
                <a:spcPts val="1050"/>
              </a:spcBef>
            </a:pPr>
            <a:r>
              <a:rPr lang="en-US" sz="1400" dirty="0">
                <a:solidFill>
                  <a:srgbClr val="002060"/>
                </a:solidFill>
              </a:rPr>
              <a:t>Peak viewing occurs in evenings and weekends, with sports and entertainment being most popular..</a:t>
            </a:r>
            <a:endParaRPr lang="en-ZA" sz="1400" dirty="0">
              <a:solidFill>
                <a:srgbClr val="002060"/>
              </a:solidFill>
            </a:endParaRPr>
          </a:p>
        </p:txBody>
      </p:sp>
      <p:sp>
        <p:nvSpPr>
          <p:cNvPr id="13" name="TextBox 12">
            <a:extLst>
              <a:ext uri="{FF2B5EF4-FFF2-40B4-BE49-F238E27FC236}">
                <a16:creationId xmlns:a16="http://schemas.microsoft.com/office/drawing/2014/main" id="{0E8136B3-B366-4841-ADF7-170042EB7A2B}"/>
              </a:ext>
            </a:extLst>
          </p:cNvPr>
          <p:cNvSpPr txBox="1"/>
          <p:nvPr/>
        </p:nvSpPr>
        <p:spPr>
          <a:xfrm>
            <a:off x="8254884" y="3073500"/>
            <a:ext cx="3351761" cy="1247344"/>
          </a:xfrm>
          <a:prstGeom prst="rect">
            <a:avLst/>
          </a:prstGeom>
          <a:noFill/>
        </p:spPr>
        <p:txBody>
          <a:bodyPr wrap="square" rtlCol="0">
            <a:normAutofit/>
          </a:bodyPr>
          <a:lstStyle/>
          <a:p>
            <a:pPr marL="0" algn="l">
              <a:spcBef>
                <a:spcPts val="1350"/>
              </a:spcBef>
              <a:buNone/>
            </a:pPr>
            <a:r>
              <a:rPr sz="1800" b="1" dirty="0">
                <a:solidFill>
                  <a:srgbClr val="002060"/>
                </a:solidFill>
                <a:effectLst/>
                <a:latin typeface="Avenir Next LT Pro Bold" panose="020B0804020202020204" pitchFamily="34" charset="0"/>
              </a:rPr>
              <a:t>Ready to Scale </a:t>
            </a:r>
            <a:endParaRPr dirty="0">
              <a:solidFill>
                <a:srgbClr val="002060"/>
              </a:solidFill>
              <a:effectLst/>
            </a:endParaRPr>
          </a:p>
          <a:p>
            <a:pPr>
              <a:spcBef>
                <a:spcPts val="1050"/>
              </a:spcBef>
            </a:pPr>
            <a:r>
              <a:rPr lang="en-US" sz="1400" dirty="0" err="1">
                <a:solidFill>
                  <a:srgbClr val="002060"/>
                </a:solidFill>
              </a:rPr>
              <a:t>BrightTV</a:t>
            </a:r>
            <a:r>
              <a:rPr lang="en-US" sz="1400" dirty="0">
                <a:solidFill>
                  <a:srgbClr val="002060"/>
                </a:solidFill>
              </a:rPr>
              <a:t> can grow through targeted marketing, content scheduling, and personalized recommendations.</a:t>
            </a:r>
            <a:endParaRPr lang="en-ZA" sz="2000" dirty="0">
              <a:solidFill>
                <a:srgbClr val="002060"/>
              </a:solidFill>
            </a:endParaRPr>
          </a:p>
        </p:txBody>
      </p:sp>
      <p:sp>
        <p:nvSpPr>
          <p:cNvPr id="3" name="TextBox 2">
            <a:extLst>
              <a:ext uri="{FF2B5EF4-FFF2-40B4-BE49-F238E27FC236}">
                <a16:creationId xmlns:a16="http://schemas.microsoft.com/office/drawing/2014/main" id="{29121E87-B1FA-0F36-51D1-E8FF1B3EE83A}"/>
              </a:ext>
            </a:extLst>
          </p:cNvPr>
          <p:cNvSpPr txBox="1"/>
          <p:nvPr/>
        </p:nvSpPr>
        <p:spPr>
          <a:xfrm>
            <a:off x="2738183" y="5288340"/>
            <a:ext cx="6102848" cy="1569660"/>
          </a:xfrm>
          <a:prstGeom prst="rect">
            <a:avLst/>
          </a:prstGeom>
          <a:noFill/>
        </p:spPr>
        <p:txBody>
          <a:bodyPr wrap="square">
            <a:spAutoFit/>
          </a:bodyPr>
          <a:lstStyle/>
          <a:p>
            <a:r>
              <a:rPr lang="en-US" sz="9600" dirty="0">
                <a:solidFill>
                  <a:schemeClr val="accent2">
                    <a:lumMod val="50000"/>
                  </a:schemeClr>
                </a:solidFill>
              </a:rPr>
              <a:t>Thank you!</a:t>
            </a:r>
            <a:endParaRPr lang="en-ZA" sz="9600" dirty="0">
              <a:solidFill>
                <a:schemeClr val="accent2">
                  <a:lumMod val="50000"/>
                </a:schemeClr>
              </a:solidFill>
            </a:endParaRPr>
          </a:p>
        </p:txBody>
      </p:sp>
    </p:spTree>
    <p:extLst>
      <p:ext uri="{BB962C8B-B14F-4D97-AF65-F5344CB8AC3E}">
        <p14:creationId xmlns:p14="http://schemas.microsoft.com/office/powerpoint/2010/main" val="553987535"/>
      </p:ext>
    </p:extLst>
  </p:cSld>
  <p:clrMapOvr>
    <a:masterClrMapping/>
  </p:clrMapOvr>
</p:sld>
</file>

<file path=ppt/theme/theme1.xml><?xml version="1.0" encoding="utf-8"?>
<a:theme xmlns:a="http://schemas.openxmlformats.org/drawingml/2006/main" name="DuneVTI">
  <a:themeElements>
    <a:clrScheme name="Dune Palett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_win32_DN_v2" id="{97A7A9A4-5677-45E2-BAC9-3A76DA18A86D}" vid="{E1353FFA-7ECE-4894-957E-EAB589AB129E}"/>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3dea8a1-acec-4f21-87ac-6d51e1bcd07c}" enabled="1" method="Standard" siteId="{b306037e-e20c-404e-a508-9defe0d06ef2}" removed="0"/>
</clbl:labelList>
</file>

<file path=docProps/app.xml><?xml version="1.0" encoding="utf-8"?>
<Properties xmlns="http://schemas.openxmlformats.org/officeDocument/2006/extended-properties" xmlns:vt="http://schemas.openxmlformats.org/officeDocument/2006/docPropsVTypes">
  <TotalTime>918</TotalTime>
  <Words>1044</Words>
  <Application>Microsoft Office PowerPoint</Application>
  <PresentationFormat>Widescreen</PresentationFormat>
  <Paragraphs>106</Paragraphs>
  <Slides>9</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vt:i4>
      </vt:variant>
    </vt:vector>
  </HeadingPairs>
  <TitlesOfParts>
    <vt:vector size="19" baseType="lpstr">
      <vt:lpstr>Aptos</vt:lpstr>
      <vt:lpstr>Arial</vt:lpstr>
      <vt:lpstr>Avenir Next LT Pro</vt:lpstr>
      <vt:lpstr>Avenir Next LT Pro Bold</vt:lpstr>
      <vt:lpstr>Avenir Next LT Pro Regular</vt:lpstr>
      <vt:lpstr>Calibri</vt:lpstr>
      <vt:lpstr>Gill Sans MT</vt:lpstr>
      <vt:lpstr>Neue Haas Grotesk Text Pro</vt:lpstr>
      <vt:lpstr>DuneVTI</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Nyandano Mathoma</dc:creator>
  <cp:lastModifiedBy>Nyandano Mathoma</cp:lastModifiedBy>
  <cp:revision>1</cp:revision>
  <dcterms:created xsi:type="dcterms:W3CDTF">2026-03-31T18:17:08Z</dcterms:created>
  <dcterms:modified xsi:type="dcterms:W3CDTF">2026-04-19T17:49:02Z</dcterms:modified>
</cp:coreProperties>
</file>